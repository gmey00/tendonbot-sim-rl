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779" r:id="rId1"/>
  </p:sldMasterIdLst>
  <p:notesMasterIdLst>
    <p:notesMasterId r:id="rId12"/>
  </p:notesMasterIdLst>
  <p:handoutMasterIdLst>
    <p:handoutMasterId r:id="rId13"/>
  </p:handoutMasterIdLst>
  <p:sldIdLst>
    <p:sldId id="256" r:id="rId2"/>
    <p:sldId id="271" r:id="rId3"/>
    <p:sldId id="275" r:id="rId4"/>
    <p:sldId id="276" r:id="rId5"/>
    <p:sldId id="266" r:id="rId6"/>
    <p:sldId id="269" r:id="rId7"/>
    <p:sldId id="277" r:id="rId8"/>
    <p:sldId id="279" r:id="rId9"/>
    <p:sldId id="280" r:id="rId10"/>
    <p:sldId id="281" r:id="rId11"/>
  </p:sldIdLst>
  <p:sldSz cx="12192000" cy="6858000"/>
  <p:notesSz cx="6858000" cy="9144000"/>
  <p:defaultTextStyle>
    <a:defPPr>
      <a:defRPr lang="de-DE"/>
    </a:defPPr>
    <a:lvl1pPr marL="0" indent="0" algn="l" defTabSz="914400" rtl="0" eaLnBrk="1" latinLnBrk="0" hangingPunct="1">
      <a:lnSpc>
        <a:spcPct val="100000"/>
      </a:lnSpc>
      <a:spcBef>
        <a:spcPts val="800"/>
      </a:spcBef>
      <a:buFontTx/>
      <a:buNone/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0" indent="0" algn="l" defTabSz="914400" rtl="0" eaLnBrk="1" latinLnBrk="0" hangingPunct="1">
      <a:lnSpc>
        <a:spcPct val="100000"/>
      </a:lnSpc>
      <a:spcBef>
        <a:spcPts val="800"/>
      </a:spcBef>
      <a:buFontTx/>
      <a:buNone/>
      <a:defRPr sz="1400" b="1" kern="1200">
        <a:solidFill>
          <a:schemeClr val="tx1"/>
        </a:solidFill>
        <a:latin typeface="+mj-lt"/>
        <a:ea typeface="+mn-ea"/>
        <a:cs typeface="+mn-cs"/>
      </a:defRPr>
    </a:lvl2pPr>
    <a:lvl3pPr marL="216000" indent="-216000" algn="l" defTabSz="914400" rtl="0" eaLnBrk="1" latinLnBrk="0" hangingPunct="1">
      <a:lnSpc>
        <a:spcPct val="100000"/>
      </a:lnSpc>
      <a:spcBef>
        <a:spcPts val="800"/>
      </a:spcBef>
      <a:buClr>
        <a:schemeClr val="bg2"/>
      </a:buClr>
      <a:buFont typeface="Wingdings" panose="05000000000000000000" pitchFamily="2" charset="2"/>
      <a:buChar char=""/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360000" indent="-144000" algn="l" defTabSz="914400" rtl="0" eaLnBrk="1" latinLnBrk="0" hangingPunct="1">
      <a:lnSpc>
        <a:spcPct val="100000"/>
      </a:lnSpc>
      <a:spcBef>
        <a:spcPts val="400"/>
      </a:spcBef>
      <a:buClr>
        <a:schemeClr val="bg2"/>
      </a:buClr>
      <a:buFont typeface="Symbol" panose="05050102010706020507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360000" indent="-144000" algn="l" defTabSz="914400" rtl="0" eaLnBrk="1" latinLnBrk="0" hangingPunct="1">
      <a:lnSpc>
        <a:spcPct val="100000"/>
      </a:lnSpc>
      <a:spcBef>
        <a:spcPts val="400"/>
      </a:spcBef>
      <a:buClr>
        <a:schemeClr val="bg2"/>
      </a:buClr>
      <a:buFont typeface="Symbol" panose="05050102010706020507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360000" indent="-144000" algn="l" defTabSz="914400" rtl="0" eaLnBrk="1" latinLnBrk="0" hangingPunct="1">
      <a:lnSpc>
        <a:spcPct val="100000"/>
      </a:lnSpc>
      <a:spcBef>
        <a:spcPts val="400"/>
      </a:spcBef>
      <a:buClr>
        <a:schemeClr val="bg2"/>
      </a:buClr>
      <a:buFont typeface="Symbol" panose="05050102010706020507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360000" indent="-144000" algn="l" defTabSz="914400" rtl="0" eaLnBrk="1" latinLnBrk="0" hangingPunct="1">
      <a:lnSpc>
        <a:spcPct val="100000"/>
      </a:lnSpc>
      <a:spcBef>
        <a:spcPts val="400"/>
      </a:spcBef>
      <a:buClr>
        <a:schemeClr val="bg2"/>
      </a:buClr>
      <a:buFont typeface="Symbol" panose="05050102010706020507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60000" indent="-144000" algn="l" defTabSz="914400" rtl="0" eaLnBrk="1" latinLnBrk="0" hangingPunct="1">
      <a:lnSpc>
        <a:spcPct val="100000"/>
      </a:lnSpc>
      <a:spcBef>
        <a:spcPts val="400"/>
      </a:spcBef>
      <a:buClr>
        <a:schemeClr val="bg2"/>
      </a:buClr>
      <a:buFont typeface="Symbol" panose="05050102010706020507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0000" indent="-144000" algn="l" defTabSz="914400" rtl="0" eaLnBrk="1" latinLnBrk="0" hangingPunct="1">
      <a:lnSpc>
        <a:spcPct val="100000"/>
      </a:lnSpc>
      <a:spcBef>
        <a:spcPts val="400"/>
      </a:spcBef>
      <a:buClr>
        <a:schemeClr val="bg2"/>
      </a:buClr>
      <a:buFont typeface="Symbol" panose="05050102010706020507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7C13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F574968-8E7B-4BD5-88D0-8983A55FECBE}">
  <a:tblStyle styleId="{FF574968-8E7B-4BD5-88D0-8983A55FECBE}" styleName="FAPS Grün">
    <a:wholeTbl>
      <a:tcTxStyle>
        <a:fontRef idx="minor"/>
        <a:schemeClr val="tx1"/>
      </a:tcTxStyle>
      <a:tcStyle>
        <a:tcBdr>
          <a:left>
            <a:ln w="0" cmpd="sng">
              <a:noFill/>
            </a:ln>
          </a:left>
          <a:right>
            <a:ln w="0" cmpd="sng">
              <a:noFill/>
            </a:ln>
          </a:right>
          <a:top>
            <a:ln w="12700" cmpd="sng">
              <a:solidFill>
                <a:schemeClr val="bg2"/>
              </a:solidFill>
            </a:ln>
          </a:top>
          <a:bottom>
            <a:ln w="12700" cmpd="sng">
              <a:solidFill>
                <a:schemeClr val="bg2"/>
              </a:solidFill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 w="12700" cmpd="sng">
              <a:solidFill>
                <a:schemeClr val="bg2"/>
              </a:solidFill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/>
      </a:tcStyle>
    </a:band2H>
    <a:band1V>
      <a:tcStyle>
        <a:tcBdr/>
        <a:fill>
          <a:noFill/>
        </a:fill>
      </a:tcStyle>
    </a:band1V>
    <a:band2V>
      <a:tcStyle>
        <a:tcBdr/>
      </a:tcStyle>
    </a:band2V>
    <a:lastCol>
      <a:tcTxStyle b="on">
        <a:fontRef idx="minor"/>
        <a:schemeClr val="bg1"/>
      </a:tcTxStyle>
      <a:tcStyle>
        <a:tcBdr>
          <a:left>
            <a:ln w="12700" cmpd="sng">
              <a:solidFill>
                <a:schemeClr val="bg1"/>
              </a:solidFill>
            </a:ln>
          </a:left>
          <a:insideH>
            <a:ln w="12700" cmpd="sng">
              <a:solidFill>
                <a:schemeClr val="bg1"/>
              </a:solidFill>
            </a:ln>
          </a:insideH>
        </a:tcBdr>
        <a:fill>
          <a:solidFill>
            <a:schemeClr val="bg2"/>
          </a:solidFill>
        </a:fill>
      </a:tcStyle>
    </a:lastCol>
    <a:firstCol>
      <a:tcTxStyle b="on">
        <a:fontRef idx="minor"/>
        <a:schemeClr val="bg1"/>
      </a:tcTxStyle>
      <a:tcStyle>
        <a:tcBdr>
          <a:right>
            <a:ln w="12700" cmpd="sng">
              <a:solidFill>
                <a:schemeClr val="bg1"/>
              </a:solidFill>
            </a:ln>
          </a:right>
          <a:insideH>
            <a:ln w="12700" cmpd="sng">
              <a:solidFill>
                <a:schemeClr val="bg1"/>
              </a:solidFill>
            </a:ln>
          </a:insideH>
        </a:tcBdr>
        <a:fill>
          <a:solidFill>
            <a:schemeClr val="bg2"/>
          </a:solidFill>
        </a:fill>
      </a:tcStyle>
    </a:firstCol>
    <a:lastRow>
      <a:tcTxStyle b="on">
        <a:fontRef idx="minor"/>
        <a:schemeClr val="bg1"/>
      </a:tcTxStyle>
      <a:tcStyle>
        <a:tcBdr>
          <a:top>
            <a:ln w="12700" cmpd="sng">
              <a:solidFill>
                <a:schemeClr val="bg1"/>
              </a:solidFill>
            </a:ln>
          </a:top>
          <a:insideV>
            <a:ln w="12700" cmpd="sng">
              <a:solidFill>
                <a:schemeClr val="bg1"/>
              </a:solidFill>
            </a:ln>
          </a:insideV>
        </a:tcBdr>
        <a:fill>
          <a:solidFill>
            <a:schemeClr val="bg2"/>
          </a:solidFill>
        </a:fill>
      </a:tcStyle>
    </a:lastRow>
    <a:firstRow>
      <a:tcTxStyle b="on">
        <a:fontRef idx="minor"/>
        <a:schemeClr val="bg1"/>
      </a:tcTxStyle>
      <a:tcStyle>
        <a:tcBdr>
          <a:bottom>
            <a:ln w="12700" cmpd="sng">
              <a:solidFill>
                <a:schemeClr val="bg1"/>
              </a:solidFill>
            </a:ln>
          </a:bottom>
          <a:insideV>
            <a:ln w="12700" cmpd="sng">
              <a:solidFill>
                <a:schemeClr val="bg1"/>
              </a:solidFill>
            </a:ln>
          </a:insideV>
        </a:tcBdr>
        <a:fill>
          <a:solidFill>
            <a:schemeClr val="bg2"/>
          </a:solidFill>
        </a:fill>
      </a:tcStyle>
    </a:firstRow>
  </a:tblStyle>
  <a:tblStyle styleId="{37BAE8A2-7202-4C22-9C2C-F347EB2FAA6F}" styleName="FAPS Blau">
    <a:wholeTbl>
      <a:tcTxStyle>
        <a:fontRef idx="minor"/>
        <a:schemeClr val="tx1"/>
      </a:tcTxStyle>
      <a:tcStyle>
        <a:tcBdr>
          <a:left>
            <a:ln w="0" cmpd="sng">
              <a:noFill/>
            </a:ln>
          </a:left>
          <a:right>
            <a:ln w="0" cmpd="sng"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/>
      </a:tcStyle>
    </a:band2H>
    <a:band1V>
      <a:tcStyle>
        <a:tcBdr/>
        <a:fill>
          <a:noFill/>
        </a:fill>
      </a:tcStyle>
    </a:band1V>
    <a:band2V>
      <a:tcStyle>
        <a:tcBdr/>
      </a:tcStyle>
    </a:band2V>
    <a:lastCol>
      <a:tcTxStyle b="on">
        <a:fontRef idx="minor"/>
        <a:schemeClr val="bg1"/>
      </a:tcTxStyle>
      <a:tcStyle>
        <a:tcBdr>
          <a:left>
            <a:ln w="12700" cmpd="sng">
              <a:solidFill>
                <a:schemeClr val="bg1"/>
              </a:solidFill>
            </a:ln>
          </a:left>
          <a:insideH>
            <a:ln w="12700" cmpd="sng">
              <a:solidFill>
                <a:schemeClr val="bg1"/>
              </a:solidFill>
            </a:ln>
          </a:insideH>
        </a:tcBdr>
        <a:fill>
          <a:solidFill>
            <a:schemeClr val="accent4"/>
          </a:solidFill>
        </a:fill>
      </a:tcStyle>
    </a:lastCol>
    <a:firstCol>
      <a:tcTxStyle b="on">
        <a:fontRef idx="minor"/>
        <a:schemeClr val="bg1"/>
      </a:tcTxStyle>
      <a:tcStyle>
        <a:tcBdr>
          <a:right>
            <a:ln w="12700" cmpd="sng">
              <a:solidFill>
                <a:schemeClr val="bg1"/>
              </a:solidFill>
            </a:ln>
          </a:right>
          <a:insideH>
            <a:ln w="12700" cmpd="sng">
              <a:solidFill>
                <a:schemeClr val="bg1"/>
              </a:solidFill>
            </a:ln>
          </a:insideH>
        </a:tcBdr>
        <a:fill>
          <a:solidFill>
            <a:schemeClr val="accent4"/>
          </a:solidFill>
        </a:fill>
      </a:tcStyle>
    </a:firstCol>
    <a:lastRow>
      <a:tcTxStyle b="on">
        <a:fontRef idx="minor"/>
        <a:schemeClr val="bg1"/>
      </a:tcTxStyle>
      <a:tcStyle>
        <a:tcBdr>
          <a:top>
            <a:ln w="12700" cmpd="sng">
              <a:solidFill>
                <a:schemeClr val="bg1"/>
              </a:solidFill>
            </a:ln>
          </a:top>
          <a:insideV>
            <a:ln w="12700" cmpd="sng">
              <a:solidFill>
                <a:schemeClr val="bg1"/>
              </a:solidFill>
            </a:ln>
          </a:insideV>
        </a:tcBdr>
        <a:fill>
          <a:solidFill>
            <a:schemeClr val="accent4"/>
          </a:solidFill>
        </a:fill>
      </a:tcStyle>
    </a:lastRow>
    <a:firstRow>
      <a:tcTxStyle b="on">
        <a:fontRef idx="minor"/>
        <a:schemeClr val="bg1"/>
      </a:tcTxStyle>
      <a:tcStyle>
        <a:tcBdr>
          <a:bottom>
            <a:ln w="12700" cmpd="sng">
              <a:solidFill>
                <a:schemeClr val="bg1"/>
              </a:solidFill>
            </a:ln>
          </a:bottom>
          <a:insideV>
            <a:ln w="12700" cmpd="sng">
              <a:solidFill>
                <a:schemeClr val="bg1"/>
              </a:solidFill>
            </a:ln>
          </a:insideV>
        </a:tcBdr>
        <a:fill>
          <a:solidFill>
            <a:schemeClr val="accent4"/>
          </a:solidFill>
        </a:fill>
      </a:tcStyle>
    </a:firstRow>
  </a:tblStyle>
  <a:tblStyle styleId="{EBB0CE9F-D716-4860-AF4F-F15B24E0B071}" styleName="FAPS Gelb">
    <a:wholeTbl>
      <a:tcTxStyle>
        <a:fontRef idx="minor"/>
        <a:schemeClr val="tx1"/>
      </a:tcTxStyle>
      <a:tcStyle>
        <a:tcBdr>
          <a:left>
            <a:ln w="0" cmpd="sng">
              <a:noFill/>
            </a:ln>
          </a:left>
          <a:right>
            <a:ln w="0" cmpd="sng"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/>
      </a:tcStyle>
    </a:band2H>
    <a:band1V>
      <a:tcStyle>
        <a:tcBdr/>
        <a:fill>
          <a:noFill/>
        </a:fill>
      </a:tcStyle>
    </a:band1V>
    <a:band2V>
      <a:tcStyle>
        <a:tcBdr/>
      </a:tcStyle>
    </a:band2V>
    <a:lastCol>
      <a:tcTxStyle b="on">
        <a:fontRef idx="minor"/>
        <a:schemeClr val="bg1"/>
      </a:tcTxStyle>
      <a:tcStyle>
        <a:tcBdr>
          <a:left>
            <a:ln w="12700" cmpd="sng">
              <a:solidFill>
                <a:schemeClr val="bg1"/>
              </a:solidFill>
            </a:ln>
          </a:left>
          <a:insideH>
            <a:ln w="12700" cmpd="sng">
              <a:solidFill>
                <a:schemeClr val="bg1"/>
              </a:solidFill>
            </a:ln>
          </a:insideH>
        </a:tcBdr>
        <a:fill>
          <a:solidFill>
            <a:schemeClr val="accent1"/>
          </a:solidFill>
        </a:fill>
      </a:tcStyle>
    </a:lastCol>
    <a:firstCol>
      <a:tcTxStyle b="on">
        <a:fontRef idx="minor"/>
        <a:schemeClr val="bg1"/>
      </a:tcTxStyle>
      <a:tcStyle>
        <a:tcBdr>
          <a:right>
            <a:ln w="12700" cmpd="sng">
              <a:solidFill>
                <a:schemeClr val="bg1"/>
              </a:solidFill>
            </a:ln>
          </a:right>
          <a:insideH>
            <a:ln w="12700" cmpd="sng">
              <a:solidFill>
                <a:schemeClr val="bg1"/>
              </a:solidFill>
            </a:ln>
          </a:insideH>
        </a:tcBdr>
        <a:fill>
          <a:solidFill>
            <a:schemeClr val="accent1"/>
          </a:solidFill>
        </a:fill>
      </a:tcStyle>
    </a:firstCol>
    <a:lastRow>
      <a:tcTxStyle b="on">
        <a:fontRef idx="minor"/>
        <a:schemeClr val="bg1"/>
      </a:tcTxStyle>
      <a:tcStyle>
        <a:tcBdr>
          <a:top>
            <a:ln w="12700" cmpd="sng">
              <a:solidFill>
                <a:schemeClr val="bg1"/>
              </a:solidFill>
            </a:ln>
          </a:top>
          <a:insideV>
            <a:ln w="12700" cmpd="sng">
              <a:solidFill>
                <a:schemeClr val="bg1"/>
              </a:solidFill>
            </a:ln>
          </a:insideV>
        </a:tcBdr>
        <a:fill>
          <a:solidFill>
            <a:schemeClr val="accent1"/>
          </a:solidFill>
        </a:fill>
      </a:tcStyle>
    </a:lastRow>
    <a:firstRow>
      <a:tcTxStyle b="on">
        <a:fontRef idx="minor"/>
        <a:schemeClr val="bg1"/>
      </a:tcTxStyle>
      <a:tcStyle>
        <a:tcBdr>
          <a:bottom>
            <a:ln w="12700" cmpd="sng">
              <a:solidFill>
                <a:schemeClr val="bg1"/>
              </a:solidFill>
            </a:ln>
          </a:bottom>
          <a:insideV>
            <a:ln w="12700" cmpd="sng">
              <a:solidFill>
                <a:schemeClr val="bg1"/>
              </a:solidFill>
            </a:ln>
          </a:insideV>
        </a:tcBdr>
        <a:fill>
          <a:solidFill>
            <a:schemeClr val="accent1"/>
          </a:solidFill>
        </a:fill>
      </a:tcStyle>
    </a:firstRow>
  </a:tblStyle>
  <a:tblStyle styleId="{26AB2577-4540-4206-9094-D35CD18BC8E0}" styleName="FAPS Orange">
    <a:wholeTbl>
      <a:tcTxStyle>
        <a:fontRef idx="minor"/>
        <a:schemeClr val="tx1"/>
      </a:tcTxStyle>
      <a:tcStyle>
        <a:tcBdr>
          <a:left>
            <a:ln w="0" cmpd="sng">
              <a:noFill/>
            </a:ln>
          </a:left>
          <a:right>
            <a:ln w="0" cmpd="sng"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/>
      </a:tcStyle>
    </a:band2H>
    <a:band1V>
      <a:tcStyle>
        <a:tcBdr/>
        <a:fill>
          <a:noFill/>
        </a:fill>
      </a:tcStyle>
    </a:band1V>
    <a:band2V>
      <a:tcStyle>
        <a:tcBdr/>
      </a:tcStyle>
    </a:band2V>
    <a:lastCol>
      <a:tcTxStyle b="on">
        <a:fontRef idx="minor"/>
        <a:schemeClr val="bg1"/>
      </a:tcTxStyle>
      <a:tcStyle>
        <a:tcBdr>
          <a:left>
            <a:ln w="12700" cmpd="sng">
              <a:solidFill>
                <a:schemeClr val="bg1"/>
              </a:solidFill>
            </a:ln>
          </a:left>
          <a:insideH>
            <a:ln w="12700" cmpd="sng">
              <a:solidFill>
                <a:schemeClr val="bg1"/>
              </a:solidFill>
            </a:ln>
          </a:insideH>
        </a:tcBdr>
        <a:fill>
          <a:solidFill>
            <a:schemeClr val="accent2"/>
          </a:solidFill>
        </a:fill>
      </a:tcStyle>
    </a:lastCol>
    <a:firstCol>
      <a:tcTxStyle b="on">
        <a:fontRef idx="minor"/>
        <a:schemeClr val="bg1"/>
      </a:tcTxStyle>
      <a:tcStyle>
        <a:tcBdr>
          <a:right>
            <a:ln w="12700" cmpd="sng">
              <a:solidFill>
                <a:schemeClr val="bg1"/>
              </a:solidFill>
            </a:ln>
          </a:right>
          <a:insideH>
            <a:ln w="12700" cmpd="sng">
              <a:solidFill>
                <a:schemeClr val="bg1"/>
              </a:solidFill>
            </a:ln>
          </a:insideH>
        </a:tcBdr>
        <a:fill>
          <a:solidFill>
            <a:schemeClr val="accent2"/>
          </a:solidFill>
        </a:fill>
      </a:tcStyle>
    </a:firstCol>
    <a:lastRow>
      <a:tcTxStyle b="on">
        <a:fontRef idx="minor"/>
        <a:schemeClr val="bg1"/>
      </a:tcTxStyle>
      <a:tcStyle>
        <a:tcBdr>
          <a:top>
            <a:ln w="12700" cmpd="sng">
              <a:solidFill>
                <a:schemeClr val="bg1"/>
              </a:solidFill>
            </a:ln>
          </a:top>
          <a:insideV>
            <a:ln w="12700" cmpd="sng">
              <a:solidFill>
                <a:schemeClr val="bg1"/>
              </a:solidFill>
            </a:ln>
          </a:insideV>
        </a:tcBdr>
        <a:fill>
          <a:solidFill>
            <a:schemeClr val="accent2"/>
          </a:solidFill>
        </a:fill>
      </a:tcStyle>
    </a:lastRow>
    <a:firstRow>
      <a:tcTxStyle b="on">
        <a:fontRef idx="minor"/>
        <a:schemeClr val="bg1"/>
      </a:tcTxStyle>
      <a:tcStyle>
        <a:tcBdr>
          <a:bottom>
            <a:ln w="12700" cmpd="sng">
              <a:solidFill>
                <a:schemeClr val="bg1"/>
              </a:solidFill>
            </a:ln>
          </a:bottom>
          <a:insideV>
            <a:ln w="12700" cmpd="sng">
              <a:solidFill>
                <a:schemeClr val="bg1"/>
              </a:solidFill>
            </a:ln>
          </a:insideV>
        </a:tcBdr>
        <a:fill>
          <a:solidFill>
            <a:schemeClr val="accent2"/>
          </a:solidFill>
        </a:fill>
      </a:tcStyle>
    </a:firstRow>
  </a:tblStyle>
  <a:tblStyle styleId="{722F7E24-ECD2-48BB-A2A0-780832591A68}" styleName="FAPS Red">
    <a:wholeTbl>
      <a:tcTxStyle>
        <a:fontRef idx="minor"/>
        <a:schemeClr val="tx1"/>
      </a:tcTxStyle>
      <a:tcStyle>
        <a:tcBdr>
          <a:left>
            <a:ln w="0" cmpd="sng">
              <a:noFill/>
            </a:ln>
          </a:left>
          <a:right>
            <a:ln w="0" cmpd="sng">
              <a:noFill/>
            </a:ln>
          </a:right>
          <a:top>
            <a:ln w="12700" cmpd="sng">
              <a:solidFill>
                <a:srgbClr val="990033"/>
              </a:solidFill>
            </a:ln>
          </a:top>
          <a:bottom>
            <a:ln w="12700" cmpd="sng">
              <a:solidFill>
                <a:srgbClr val="990033"/>
              </a:solidFill>
            </a:ln>
          </a:bottom>
          <a:insideH>
            <a:ln w="12700" cmpd="sng">
              <a:solidFill>
                <a:srgbClr val="990033"/>
              </a:solidFill>
            </a:ln>
          </a:insideH>
          <a:insideV>
            <a:ln w="12700" cmpd="sng">
              <a:solidFill>
                <a:srgbClr val="990033"/>
              </a:solidFill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/>
      </a:tcStyle>
    </a:band2H>
    <a:band1V>
      <a:tcStyle>
        <a:tcBdr/>
        <a:fill>
          <a:noFill/>
        </a:fill>
      </a:tcStyle>
    </a:band1V>
    <a:band2V>
      <a:tcStyle>
        <a:tcBdr/>
      </a:tcStyle>
    </a:band2V>
    <a:lastCol>
      <a:tcTxStyle b="on">
        <a:fontRef idx="minor"/>
        <a:schemeClr val="bg1"/>
      </a:tcTxStyle>
      <a:tcStyle>
        <a:tcBdr>
          <a:left>
            <a:ln w="12700" cmpd="sng">
              <a:solidFill>
                <a:schemeClr val="bg1"/>
              </a:solidFill>
            </a:ln>
          </a:left>
          <a:insideH>
            <a:ln w="12700" cmpd="sng">
              <a:solidFill>
                <a:schemeClr val="bg1"/>
              </a:solidFill>
            </a:ln>
          </a:insideH>
        </a:tcBdr>
        <a:fill>
          <a:solidFill>
            <a:srgbClr val="990033"/>
          </a:solidFill>
        </a:fill>
      </a:tcStyle>
    </a:lastCol>
    <a:firstCol>
      <a:tcTxStyle b="on">
        <a:fontRef idx="minor"/>
        <a:schemeClr val="bg1"/>
      </a:tcTxStyle>
      <a:tcStyle>
        <a:tcBdr>
          <a:right>
            <a:ln w="12700" cmpd="sng">
              <a:solidFill>
                <a:schemeClr val="bg1"/>
              </a:solidFill>
            </a:ln>
          </a:right>
          <a:insideH>
            <a:ln w="12700" cmpd="sng">
              <a:solidFill>
                <a:schemeClr val="bg1"/>
              </a:solidFill>
            </a:ln>
          </a:insideH>
        </a:tcBdr>
        <a:fill>
          <a:solidFill>
            <a:srgbClr val="990033"/>
          </a:solidFill>
        </a:fill>
      </a:tcStyle>
    </a:firstCol>
    <a:lastRow>
      <a:tcTxStyle b="on">
        <a:fontRef idx="minor"/>
        <a:schemeClr val="bg1"/>
      </a:tcTxStyle>
      <a:tcStyle>
        <a:tcBdr>
          <a:top>
            <a:ln w="12700" cmpd="sng">
              <a:solidFill>
                <a:schemeClr val="bg1"/>
              </a:solidFill>
            </a:ln>
          </a:top>
          <a:insideV>
            <a:ln w="12700" cmpd="sng">
              <a:solidFill>
                <a:schemeClr val="bg1"/>
              </a:solidFill>
            </a:ln>
          </a:insideV>
        </a:tcBdr>
        <a:fill>
          <a:solidFill>
            <a:srgbClr val="990033"/>
          </a:solidFill>
        </a:fill>
      </a:tcStyle>
    </a:lastRow>
    <a:firstRow>
      <a:tcTxStyle b="on">
        <a:fontRef idx="minor"/>
        <a:schemeClr val="bg1"/>
      </a:tcTxStyle>
      <a:tcStyle>
        <a:tcBdr>
          <a:bottom>
            <a:ln w="12700" cmpd="sng">
              <a:solidFill>
                <a:schemeClr val="bg1"/>
              </a:solidFill>
            </a:ln>
          </a:bottom>
          <a:insideV>
            <a:ln w="12700" cmpd="sng">
              <a:solidFill>
                <a:schemeClr val="bg1"/>
              </a:solidFill>
            </a:ln>
          </a:insideV>
        </a:tcBdr>
        <a:fill>
          <a:solidFill>
            <a:srgbClr val="990033"/>
          </a:solidFill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44" autoAdjust="0"/>
    <p:restoredTop sz="94249" autoAdjust="0"/>
  </p:normalViewPr>
  <p:slideViewPr>
    <p:cSldViewPr snapToGrid="0">
      <p:cViewPr varScale="1">
        <p:scale>
          <a:sx n="105" d="100"/>
          <a:sy n="105" d="100"/>
        </p:scale>
        <p:origin x="1092" y="102"/>
      </p:cViewPr>
      <p:guideLst/>
    </p:cSldViewPr>
  </p:slideViewPr>
  <p:outlineViewPr>
    <p:cViewPr>
      <p:scale>
        <a:sx n="100" d="100"/>
        <a:sy n="100" d="100"/>
      </p:scale>
      <p:origin x="0" y="-217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79" d="100"/>
          <a:sy n="79" d="100"/>
        </p:scale>
        <p:origin x="32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8DBBA049-97EE-4029-BBBC-21EAC84C5B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BD210D3-FE79-47E1-AC4B-2F50462D078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33B3D3-54CD-44AF-845B-BBFE2CD98E05}" type="datetimeFigureOut">
              <a:rPr lang="de-DE" smtClean="0"/>
              <a:t>04.01.2022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03BE2D9-B187-4ACC-9643-5CE351E96A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BF5FF19-54D3-4052-8D61-7D7C2DF0DA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1AC489-4F92-46E1-9F05-D61C90847A2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98045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550863" y="368300"/>
            <a:ext cx="5486400" cy="3086100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550862" y="3644900"/>
            <a:ext cx="5940425" cy="51120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2383325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Bef>
        <a:spcPts val="600"/>
      </a:spcBef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0" algn="l" defTabSz="914400" rtl="0" eaLnBrk="1" latinLnBrk="0" hangingPunct="1">
      <a:spcBef>
        <a:spcPts val="600"/>
      </a:spcBef>
      <a:defRPr sz="1200" b="1" kern="1200">
        <a:solidFill>
          <a:schemeClr val="tx1"/>
        </a:solidFill>
        <a:latin typeface="+mn-lt"/>
        <a:ea typeface="+mn-ea"/>
        <a:cs typeface="+mn-cs"/>
      </a:defRPr>
    </a:lvl2pPr>
    <a:lvl3pPr marL="216000" indent="-216000" algn="l" defTabSz="914400" rtl="0" eaLnBrk="1" latinLnBrk="0" hangingPunct="1">
      <a:spcBef>
        <a:spcPts val="600"/>
      </a:spcBef>
      <a:buClr>
        <a:schemeClr val="bg2"/>
      </a:buClr>
      <a:buFont typeface="Wingdings" panose="05000000000000000000" pitchFamily="2" charset="2"/>
      <a:buChar char="n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360000" indent="-144000" algn="l" defTabSz="914400" rtl="0" eaLnBrk="1" latinLnBrk="0" hangingPunct="1">
      <a:spcBef>
        <a:spcPts val="300"/>
      </a:spcBef>
      <a:buClr>
        <a:schemeClr val="bg2"/>
      </a:buClr>
      <a:buFont typeface="Symbol" panose="05050102010706020507" pitchFamily="18" charset="2"/>
      <a:buChar char="-"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360000" indent="-144000" algn="l" defTabSz="914400" rtl="0" eaLnBrk="1" latinLnBrk="0" hangingPunct="1">
      <a:spcBef>
        <a:spcPts val="300"/>
      </a:spcBef>
      <a:buClr>
        <a:schemeClr val="bg2"/>
      </a:buClr>
      <a:buFont typeface="Symbol" panose="05050102010706020507" pitchFamily="18" charset="2"/>
      <a:buChar char="-"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360000" indent="-144000" algn="l" defTabSz="914400" rtl="0" eaLnBrk="1" latinLnBrk="0" hangingPunct="1">
      <a:spcBef>
        <a:spcPts val="300"/>
      </a:spcBef>
      <a:buClr>
        <a:schemeClr val="bg2"/>
      </a:buClr>
      <a:buFont typeface="Symbol" panose="05050102010706020507" pitchFamily="18" charset="2"/>
      <a:buChar char="-"/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360000" indent="-144000" algn="l" defTabSz="914400" rtl="0" eaLnBrk="1" latinLnBrk="0" hangingPunct="1">
      <a:spcBef>
        <a:spcPts val="300"/>
      </a:spcBef>
      <a:buClr>
        <a:schemeClr val="bg2"/>
      </a:buClr>
      <a:buFont typeface="Symbol" panose="05050102010706020507" pitchFamily="18" charset="2"/>
      <a:buChar char="-"/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360000" indent="-144000" algn="l" defTabSz="914400" rtl="0" eaLnBrk="1" latinLnBrk="0" hangingPunct="1">
      <a:spcBef>
        <a:spcPts val="300"/>
      </a:spcBef>
      <a:buClr>
        <a:schemeClr val="bg2"/>
      </a:buClr>
      <a:buFont typeface="Symbol" panose="05050102010706020507" pitchFamily="18" charset="2"/>
      <a:buChar char="-"/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360000" indent="-144000" algn="l" defTabSz="914400" rtl="0" eaLnBrk="1" latinLnBrk="0" hangingPunct="1">
      <a:spcBef>
        <a:spcPts val="300"/>
      </a:spcBef>
      <a:buClr>
        <a:schemeClr val="bg2"/>
      </a:buClr>
      <a:buFont typeface="Symbol" panose="05050102010706020507" pitchFamily="18" charset="2"/>
      <a:buChar char="-"/>
      <a:defRPr sz="10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4089" userDrawn="1">
          <p15:clr>
            <a:srgbClr val="A4A3A4"/>
          </p15:clr>
        </p15:guide>
        <p15:guide id="2" pos="347" userDrawn="1">
          <p15:clr>
            <a:srgbClr val="A4A3A4"/>
          </p15:clr>
        </p15:guide>
        <p15:guide id="3" orient="horz" pos="2296" userDrawn="1">
          <p15:clr>
            <a:srgbClr val="A4A3A4"/>
          </p15:clr>
        </p15:guide>
        <p15:guide id="4" orient="horz" pos="232" userDrawn="1">
          <p15:clr>
            <a:srgbClr val="A4A3A4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47284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AE24200F-5BC6-4D43-A539-33D860210A11}"/>
              </a:ext>
            </a:extLst>
          </p:cNvPr>
          <p:cNvGrpSpPr/>
          <p:nvPr/>
        </p:nvGrpSpPr>
        <p:grpSpPr>
          <a:xfrm>
            <a:off x="755836" y="1748283"/>
            <a:ext cx="2399370" cy="2328417"/>
            <a:chOff x="755836" y="1748283"/>
            <a:chExt cx="2399370" cy="2328417"/>
          </a:xfrm>
        </p:grpSpPr>
        <p:sp>
          <p:nvSpPr>
            <p:cNvPr id="10" name="Logo Background">
              <a:extLst>
                <a:ext uri="{FF2B5EF4-FFF2-40B4-BE49-F238E27FC236}">
                  <a16:creationId xmlns:a16="http://schemas.microsoft.com/office/drawing/2014/main" id="{CB174761-0EDF-4F42-9C45-719269900A51}"/>
                </a:ext>
              </a:extLst>
            </p:cNvPr>
            <p:cNvSpPr/>
            <p:nvPr/>
          </p:nvSpPr>
          <p:spPr>
            <a:xfrm>
              <a:off x="832760" y="1838325"/>
              <a:ext cx="2245522" cy="2238374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de-DE" sz="1400" dirty="0" err="1">
                <a:solidFill>
                  <a:schemeClr val="tx1"/>
                </a:solidFill>
              </a:endParaRPr>
            </a:p>
          </p:txBody>
        </p:sp>
        <p:pic>
          <p:nvPicPr>
            <p:cNvPr id="11" name="FAPS Logo">
              <a:extLst>
                <a:ext uri="{FF2B5EF4-FFF2-40B4-BE49-F238E27FC236}">
                  <a16:creationId xmlns:a16="http://schemas.microsoft.com/office/drawing/2014/main" id="{5D263906-B4D3-4320-84C5-0B46F8C9746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056"/>
            <a:stretch/>
          </p:blipFill>
          <p:spPr>
            <a:xfrm>
              <a:off x="755836" y="1748283"/>
              <a:ext cx="2399370" cy="2328417"/>
            </a:xfrm>
            <a:prstGeom prst="rect">
              <a:avLst/>
            </a:prstGeom>
          </p:spPr>
        </p:pic>
      </p:grpSp>
      <p:sp>
        <p:nvSpPr>
          <p:cNvPr id="18" name="Lehrstuhl">
            <a:extLst>
              <a:ext uri="{FF2B5EF4-FFF2-40B4-BE49-F238E27FC236}">
                <a16:creationId xmlns:a16="http://schemas.microsoft.com/office/drawing/2014/main" id="{865F1AB1-09E4-48E8-BD15-25AFDFED9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788" y="4292600"/>
            <a:ext cx="2575385" cy="9697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5000"/>
              </a:lnSpc>
              <a:spcBef>
                <a:spcPct val="7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Prof. Dr.-Ing. Jörg Franke</a:t>
            </a:r>
          </a:p>
          <a:p>
            <a:pPr marL="0" marR="0" lvl="0" indent="0" algn="l" defTabSz="914400" rtl="0" eaLnBrk="0" fontAlgn="base" latinLnBrk="0" hangingPunct="0">
              <a:lnSpc>
                <a:spcPct val="105000"/>
              </a:lnSpc>
              <a:spcBef>
                <a:spcPct val="7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Lehrstuhl für Fertigungsautomatisierung</a:t>
            </a:r>
            <a:br>
              <a:rPr kumimoji="0" lang="de-DE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de-DE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und Produktionssystematik</a:t>
            </a:r>
          </a:p>
          <a:p>
            <a:pPr marL="0" marR="0" lvl="0" indent="0" algn="l" defTabSz="914400" rtl="0" eaLnBrk="0" fontAlgn="base" latinLnBrk="0" hangingPunct="0">
              <a:lnSpc>
                <a:spcPct val="105000"/>
              </a:lnSpc>
              <a:spcBef>
                <a:spcPct val="7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Friedrich-Alexander-Universität Erlangen-Nürnberg</a:t>
            </a:r>
          </a:p>
        </p:txBody>
      </p:sp>
      <p:pic>
        <p:nvPicPr>
          <p:cNvPr id="14" name="FAU Logo">
            <a:extLst>
              <a:ext uri="{FF2B5EF4-FFF2-40B4-BE49-F238E27FC236}">
                <a16:creationId xmlns:a16="http://schemas.microsoft.com/office/drawing/2014/main" id="{6F57BB09-87BF-43CB-8DE5-75A4E62E44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058" y="5452053"/>
            <a:ext cx="2880000" cy="590379"/>
          </a:xfrm>
          <a:prstGeom prst="rect">
            <a:avLst/>
          </a:prstGeom>
        </p:spPr>
      </p:pic>
      <p:sp>
        <p:nvSpPr>
          <p:cNvPr id="9" name="Title Picture">
            <a:extLst>
              <a:ext uri="{FF2B5EF4-FFF2-40B4-BE49-F238E27FC236}">
                <a16:creationId xmlns:a16="http://schemas.microsoft.com/office/drawing/2014/main" id="{9D576FE6-05EC-4610-8B37-59904779AE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4076700"/>
          </a:xfrm>
          <a:custGeom>
            <a:avLst/>
            <a:gdLst>
              <a:gd name="connsiteX0" fmla="*/ 0 w 12192000"/>
              <a:gd name="connsiteY0" fmla="*/ 0 h 4076700"/>
              <a:gd name="connsiteX1" fmla="*/ 12192000 w 12192000"/>
              <a:gd name="connsiteY1" fmla="*/ 0 h 4076700"/>
              <a:gd name="connsiteX2" fmla="*/ 12192000 w 12192000"/>
              <a:gd name="connsiteY2" fmla="*/ 4076700 h 4076700"/>
              <a:gd name="connsiteX3" fmla="*/ 3071416 w 12192000"/>
              <a:gd name="connsiteY3" fmla="*/ 4076700 h 4076700"/>
              <a:gd name="connsiteX4" fmla="*/ 3071416 w 12192000"/>
              <a:gd name="connsiteY4" fmla="*/ 1844700 h 4076700"/>
              <a:gd name="connsiteX5" fmla="*/ 839416 w 12192000"/>
              <a:gd name="connsiteY5" fmla="*/ 1844700 h 4076700"/>
              <a:gd name="connsiteX6" fmla="*/ 839416 w 12192000"/>
              <a:gd name="connsiteY6" fmla="*/ 4076700 h 4076700"/>
              <a:gd name="connsiteX7" fmla="*/ 0 w 12192000"/>
              <a:gd name="connsiteY7" fmla="*/ 4076700 h 407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076700">
                <a:moveTo>
                  <a:pt x="0" y="0"/>
                </a:moveTo>
                <a:lnTo>
                  <a:pt x="12192000" y="0"/>
                </a:lnTo>
                <a:lnTo>
                  <a:pt x="12192000" y="4076700"/>
                </a:lnTo>
                <a:lnTo>
                  <a:pt x="3071416" y="4076700"/>
                </a:lnTo>
                <a:lnTo>
                  <a:pt x="3071416" y="1844700"/>
                </a:lnTo>
                <a:lnTo>
                  <a:pt x="839416" y="1844700"/>
                </a:lnTo>
                <a:lnTo>
                  <a:pt x="839416" y="4076700"/>
                </a:lnTo>
                <a:lnTo>
                  <a:pt x="0" y="40767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36D99F1-B28E-47D9-8E8E-E14C6DF5F8F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44213" y="4292600"/>
            <a:ext cx="6407999" cy="780983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2400"/>
            </a:lvl1pPr>
          </a:lstStyle>
          <a:p>
            <a:r>
              <a:rPr lang="de-DE" dirty="0"/>
              <a:t>Präsentationstitel</a:t>
            </a:r>
          </a:p>
        </p:txBody>
      </p:sp>
      <p:sp>
        <p:nvSpPr>
          <p:cNvPr id="3" name="Untertitel 1">
            <a:extLst>
              <a:ext uri="{FF2B5EF4-FFF2-40B4-BE49-F238E27FC236}">
                <a16:creationId xmlns:a16="http://schemas.microsoft.com/office/drawing/2014/main" id="{FAC6BD1B-9849-451E-8BB2-53904153AB2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43475" y="5408613"/>
            <a:ext cx="6408738" cy="830997"/>
          </a:xfrm>
        </p:spPr>
        <p:txBody>
          <a:bodyPr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 Präsentation: Präsentationsanlass, Kunde, Kooperationspartner, Vorlesung</a:t>
            </a:r>
          </a:p>
        </p:txBody>
      </p:sp>
    </p:spTree>
    <p:extLst>
      <p:ext uri="{BB962C8B-B14F-4D97-AF65-F5344CB8AC3E}">
        <p14:creationId xmlns:p14="http://schemas.microsoft.com/office/powerpoint/2010/main" val="19150393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1" pos="3114" userDrawn="1">
          <p15:clr>
            <a:srgbClr val="A4A3A4"/>
          </p15:clr>
        </p15:guide>
        <p15:guide id="32" orient="horz" pos="2704" userDrawn="1">
          <p15:clr>
            <a:srgbClr val="A4A3A4"/>
          </p15:clr>
        </p15:guide>
        <p15:guide id="33" orient="horz" pos="3407" userDrawn="1">
          <p15:clr>
            <a:srgbClr val="A4A3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288EC6-A096-4E0D-A1FC-BDF6922B9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8" name="Textplatzhalter 1">
            <a:extLst>
              <a:ext uri="{FF2B5EF4-FFF2-40B4-BE49-F238E27FC236}">
                <a16:creationId xmlns:a16="http://schemas.microsoft.com/office/drawing/2014/main" id="{B2F1F1B4-B04F-4127-BDBF-487418DA91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9788" y="1700213"/>
            <a:ext cx="7812088" cy="4608512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Bildplatzhalter 1">
            <a:extLst>
              <a:ext uri="{FF2B5EF4-FFF2-40B4-BE49-F238E27FC236}">
                <a16:creationId xmlns:a16="http://schemas.microsoft.com/office/drawing/2014/main" id="{5D88362B-AA3C-475F-A79B-C27AA90202B3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8651875" y="1700213"/>
            <a:ext cx="2700338" cy="2700338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91910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2" pos="5450" userDrawn="1">
          <p15:clr>
            <a:srgbClr val="A4A3A4"/>
          </p15:clr>
        </p15:guide>
        <p15:guide id="43" orient="horz" pos="1071" userDrawn="1">
          <p15:clr>
            <a:srgbClr val="A4A3A4"/>
          </p15:clr>
        </p15:guide>
        <p15:guide id="44" orient="horz" pos="2523" userDrawn="1">
          <p15:clr>
            <a:srgbClr val="A4A3A4"/>
          </p15:clr>
        </p15:guide>
        <p15:guide id="45" orient="horz" pos="527" userDrawn="1">
          <p15:clr>
            <a:srgbClr val="A4A3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0CA72CA8-958A-4925-AE3D-8A5B876E2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1140153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1" pos="2797">
          <p15:clr>
            <a:srgbClr val="C9C9C9"/>
          </p15:clr>
        </p15:guide>
        <p15:guide id="23" pos="2615">
          <p15:clr>
            <a:srgbClr val="C9C9C9"/>
          </p15:clr>
        </p15:guide>
        <p15:guide id="26" pos="5065">
          <p15:clr>
            <a:srgbClr val="C9C9C9"/>
          </p15:clr>
        </p15:guide>
        <p15:guide id="29" pos="5450">
          <p15:clr>
            <a:srgbClr val="DCDCDC"/>
          </p15:clr>
        </p15:guide>
        <p15:guide id="31" pos="5632">
          <p15:clr>
            <a:srgbClr val="DCDCDC"/>
          </p15:clr>
        </p15:guide>
        <p15:guide id="32" pos="2230">
          <p15:clr>
            <a:srgbClr val="DCDCDC"/>
          </p15:clr>
        </p15:guide>
        <p15:guide id="33" pos="2048">
          <p15:clr>
            <a:srgbClr val="DCDCDC"/>
          </p15:clr>
        </p15:guide>
        <p15:guide id="34" pos="3840">
          <p15:clr>
            <a:srgbClr val="A4A3A4"/>
          </p15:clr>
        </p15:guide>
        <p15:guide id="35" orient="horz" pos="527">
          <p15:clr>
            <a:srgbClr val="A4A3A4"/>
          </p15:clr>
        </p15:guide>
        <p15:guide id="38" pos="4883">
          <p15:clr>
            <a:srgbClr val="C9C9C9"/>
          </p15:clr>
        </p15:guide>
        <p15:guide id="39" pos="3749">
          <p15:clr>
            <a:srgbClr val="A4A3A4"/>
          </p15:clr>
        </p15:guide>
        <p15:guide id="40" pos="3931">
          <p15:clr>
            <a:srgbClr val="A4A3A4"/>
          </p15:clr>
        </p15:guide>
        <p15:guide id="55" orient="horz" pos="799" userDrawn="1">
          <p15:clr>
            <a:srgbClr val="A4A3A4"/>
          </p15:clr>
        </p15:guide>
        <p15:guide id="56" orient="horz" pos="2387" userDrawn="1">
          <p15:clr>
            <a:srgbClr val="A4A3A4"/>
          </p15:clr>
        </p15:guide>
        <p15:guide id="57" orient="horz" pos="2296" userDrawn="1">
          <p15:clr>
            <a:srgbClr val="A4A3A4"/>
          </p15:clr>
        </p15:guide>
        <p15:guide id="58" orient="horz" pos="2478" userDrawn="1">
          <p15:clr>
            <a:srgbClr val="A4A3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059E179C-9FAB-4AE4-91B4-8DCC7BC80242}"/>
              </a:ext>
            </a:extLst>
          </p:cNvPr>
          <p:cNvGrpSpPr/>
          <p:nvPr/>
        </p:nvGrpSpPr>
        <p:grpSpPr>
          <a:xfrm>
            <a:off x="755836" y="1748283"/>
            <a:ext cx="2399370" cy="2328417"/>
            <a:chOff x="755836" y="1748283"/>
            <a:chExt cx="2399370" cy="2328417"/>
          </a:xfrm>
        </p:grpSpPr>
        <p:sp>
          <p:nvSpPr>
            <p:cNvPr id="12" name="Logo Background">
              <a:extLst>
                <a:ext uri="{FF2B5EF4-FFF2-40B4-BE49-F238E27FC236}">
                  <a16:creationId xmlns:a16="http://schemas.microsoft.com/office/drawing/2014/main" id="{9503159C-3D5C-4BD8-BC46-9C5251845F3F}"/>
                </a:ext>
              </a:extLst>
            </p:cNvPr>
            <p:cNvSpPr/>
            <p:nvPr/>
          </p:nvSpPr>
          <p:spPr>
            <a:xfrm>
              <a:off x="832760" y="1838325"/>
              <a:ext cx="2245522" cy="2238374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de-DE" sz="1400" dirty="0" err="1">
                <a:solidFill>
                  <a:schemeClr val="tx1"/>
                </a:solidFill>
              </a:endParaRPr>
            </a:p>
          </p:txBody>
        </p:sp>
        <p:pic>
          <p:nvPicPr>
            <p:cNvPr id="11" name="FAPS Logo">
              <a:extLst>
                <a:ext uri="{FF2B5EF4-FFF2-40B4-BE49-F238E27FC236}">
                  <a16:creationId xmlns:a16="http://schemas.microsoft.com/office/drawing/2014/main" id="{5D263906-B4D3-4320-84C5-0B46F8C9746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056"/>
            <a:stretch/>
          </p:blipFill>
          <p:spPr>
            <a:xfrm>
              <a:off x="755836" y="1748283"/>
              <a:ext cx="2399370" cy="2328417"/>
            </a:xfrm>
            <a:prstGeom prst="rect">
              <a:avLst/>
            </a:prstGeom>
          </p:spPr>
        </p:pic>
      </p:grpSp>
      <p:sp>
        <p:nvSpPr>
          <p:cNvPr id="13" name="Foliennummer">
            <a:extLst>
              <a:ext uri="{FF2B5EF4-FFF2-40B4-BE49-F238E27FC236}">
                <a16:creationId xmlns:a16="http://schemas.microsoft.com/office/drawing/2014/main" id="{2F886920-0429-474E-87E1-8254B8D00CCE}"/>
              </a:ext>
            </a:extLst>
          </p:cNvPr>
          <p:cNvSpPr txBox="1"/>
          <p:nvPr/>
        </p:nvSpPr>
        <p:spPr>
          <a:xfrm>
            <a:off x="11400000" y="6521807"/>
            <a:ext cx="792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indent="0" algn="ctr">
              <a:spcBef>
                <a:spcPts val="0"/>
              </a:spcBef>
              <a:buFontTx/>
              <a:buNone/>
            </a:pPr>
            <a:fld id="{5020D2FB-1A57-4A88-A56B-4A99FCEFB664}" type="slidenum">
              <a:rPr lang="de-DE" sz="800" b="0" smtClean="0">
                <a:latin typeface="+mn-lt"/>
              </a:rPr>
              <a:t>‹Nr.›</a:t>
            </a:fld>
            <a:endParaRPr lang="de-DE" sz="800" b="0" dirty="0">
              <a:latin typeface="+mn-lt"/>
            </a:endParaRPr>
          </a:p>
        </p:txBody>
      </p:sp>
      <p:sp>
        <p:nvSpPr>
          <p:cNvPr id="15" name="Datum">
            <a:extLst>
              <a:ext uri="{FF2B5EF4-FFF2-40B4-BE49-F238E27FC236}">
                <a16:creationId xmlns:a16="http://schemas.microsoft.com/office/drawing/2014/main" id="{2CCF966C-8927-4396-8A2E-70445775A7D6}"/>
              </a:ext>
            </a:extLst>
          </p:cNvPr>
          <p:cNvSpPr txBox="1"/>
          <p:nvPr/>
        </p:nvSpPr>
        <p:spPr>
          <a:xfrm>
            <a:off x="10560213" y="6521807"/>
            <a:ext cx="792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indent="0" algn="r">
              <a:spcBef>
                <a:spcPts val="0"/>
              </a:spcBef>
              <a:buFontTx/>
              <a:buNone/>
            </a:pPr>
            <a:r>
              <a:rPr lang="de-DE" sz="800" b="0" smtClean="0">
                <a:latin typeface="+mn-lt"/>
              </a:rPr>
              <a:t>04.01.2022</a:t>
            </a:r>
            <a:endParaRPr lang="de-DE" sz="800" b="0" dirty="0">
              <a:latin typeface="+mn-lt"/>
            </a:endParaRPr>
          </a:p>
        </p:txBody>
      </p:sp>
      <p:sp>
        <p:nvSpPr>
          <p:cNvPr id="16" name="Bearbeiter und Präsentation">
            <a:extLst>
              <a:ext uri="{FF2B5EF4-FFF2-40B4-BE49-F238E27FC236}">
                <a16:creationId xmlns:a16="http://schemas.microsoft.com/office/drawing/2014/main" id="{A3A2D4CD-2B9B-41B0-A9FB-42466503F0F8}"/>
              </a:ext>
            </a:extLst>
          </p:cNvPr>
          <p:cNvSpPr txBox="1"/>
          <p:nvPr/>
        </p:nvSpPr>
        <p:spPr>
          <a:xfrm>
            <a:off x="839787" y="6521807"/>
            <a:ext cx="900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indent="0" algn="l">
              <a:spcBef>
                <a:spcPts val="0"/>
              </a:spcBef>
              <a:buFontTx/>
              <a:buNone/>
            </a:pPr>
            <a:r>
              <a:rPr lang="de-DE" sz="800" b="0" smtClean="0">
                <a:latin typeface="+mn-lt"/>
              </a:rPr>
              <a:t>Studentische Arbeiten - weiterführende Informationen</a:t>
            </a:r>
            <a:endParaRPr lang="de-DE" sz="800" b="0" dirty="0">
              <a:latin typeface="+mn-lt"/>
            </a:endParaRPr>
          </a:p>
        </p:txBody>
      </p:sp>
      <p:sp>
        <p:nvSpPr>
          <p:cNvPr id="18" name="Lehrstuhl">
            <a:extLst>
              <a:ext uri="{FF2B5EF4-FFF2-40B4-BE49-F238E27FC236}">
                <a16:creationId xmlns:a16="http://schemas.microsoft.com/office/drawing/2014/main" id="{865F1AB1-09E4-48E8-BD15-25AFDFED9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788" y="4292600"/>
            <a:ext cx="2575385" cy="9697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5000"/>
              </a:lnSpc>
              <a:spcBef>
                <a:spcPct val="7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Prof. Dr.-Ing. Jörg Franke</a:t>
            </a:r>
          </a:p>
          <a:p>
            <a:pPr marL="0" marR="0" lvl="0" indent="0" algn="l" defTabSz="914400" rtl="0" eaLnBrk="0" fontAlgn="base" latinLnBrk="0" hangingPunct="0">
              <a:lnSpc>
                <a:spcPct val="105000"/>
              </a:lnSpc>
              <a:spcBef>
                <a:spcPct val="7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Lehrstuhl für Fertigungsautomatisierung</a:t>
            </a:r>
            <a:br>
              <a:rPr kumimoji="0" lang="de-DE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de-DE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und Produktionssystematik</a:t>
            </a:r>
          </a:p>
          <a:p>
            <a:pPr marL="0" marR="0" lvl="0" indent="0" algn="l" defTabSz="914400" rtl="0" eaLnBrk="0" fontAlgn="base" latinLnBrk="0" hangingPunct="0">
              <a:lnSpc>
                <a:spcPct val="105000"/>
              </a:lnSpc>
              <a:spcBef>
                <a:spcPct val="7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Friedrich-Alexander-Universität Erlangen-Nürnberg</a:t>
            </a:r>
          </a:p>
        </p:txBody>
      </p:sp>
      <p:pic>
        <p:nvPicPr>
          <p:cNvPr id="14" name="FAU Logo">
            <a:extLst>
              <a:ext uri="{FF2B5EF4-FFF2-40B4-BE49-F238E27FC236}">
                <a16:creationId xmlns:a16="http://schemas.microsoft.com/office/drawing/2014/main" id="{6F57BB09-87BF-43CB-8DE5-75A4E62E44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058" y="5452053"/>
            <a:ext cx="2880000" cy="590379"/>
          </a:xfrm>
          <a:prstGeom prst="rect">
            <a:avLst/>
          </a:prstGeom>
        </p:spPr>
      </p:pic>
      <p:sp>
        <p:nvSpPr>
          <p:cNvPr id="7" name="Danke">
            <a:extLst>
              <a:ext uri="{FF2B5EF4-FFF2-40B4-BE49-F238E27FC236}">
                <a16:creationId xmlns:a16="http://schemas.microsoft.com/office/drawing/2014/main" id="{B8AEBB16-568B-416C-A52D-B9D0B7AD8666}"/>
              </a:ext>
            </a:extLst>
          </p:cNvPr>
          <p:cNvSpPr txBox="1"/>
          <p:nvPr/>
        </p:nvSpPr>
        <p:spPr>
          <a:xfrm>
            <a:off x="5983242" y="4811018"/>
            <a:ext cx="5368970" cy="9233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de-DE" sz="6000" b="1" cap="all" baseline="0" dirty="0" smtClean="0"/>
              <a:t>Viel </a:t>
            </a:r>
            <a:r>
              <a:rPr lang="de-DE" sz="6000" b="1" cap="all" baseline="0" dirty="0" err="1" smtClean="0"/>
              <a:t>erfolg</a:t>
            </a:r>
            <a:r>
              <a:rPr lang="de-DE" sz="6000" b="1" cap="all" baseline="0" dirty="0" smtClean="0"/>
              <a:t>!</a:t>
            </a:r>
            <a:endParaRPr lang="de-DE" sz="6000" b="1" cap="all" baseline="0" dirty="0"/>
          </a:p>
        </p:txBody>
      </p:sp>
      <p:sp>
        <p:nvSpPr>
          <p:cNvPr id="9" name="Title Picture">
            <a:extLst>
              <a:ext uri="{FF2B5EF4-FFF2-40B4-BE49-F238E27FC236}">
                <a16:creationId xmlns:a16="http://schemas.microsoft.com/office/drawing/2014/main" id="{9D576FE6-05EC-4610-8B37-59904779AE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4076700"/>
          </a:xfrm>
          <a:custGeom>
            <a:avLst/>
            <a:gdLst>
              <a:gd name="connsiteX0" fmla="*/ 0 w 12192000"/>
              <a:gd name="connsiteY0" fmla="*/ 0 h 4076700"/>
              <a:gd name="connsiteX1" fmla="*/ 12192000 w 12192000"/>
              <a:gd name="connsiteY1" fmla="*/ 0 h 4076700"/>
              <a:gd name="connsiteX2" fmla="*/ 12192000 w 12192000"/>
              <a:gd name="connsiteY2" fmla="*/ 4076700 h 4076700"/>
              <a:gd name="connsiteX3" fmla="*/ 3071416 w 12192000"/>
              <a:gd name="connsiteY3" fmla="*/ 4076700 h 4076700"/>
              <a:gd name="connsiteX4" fmla="*/ 3071416 w 12192000"/>
              <a:gd name="connsiteY4" fmla="*/ 1844700 h 4076700"/>
              <a:gd name="connsiteX5" fmla="*/ 839416 w 12192000"/>
              <a:gd name="connsiteY5" fmla="*/ 1844700 h 4076700"/>
              <a:gd name="connsiteX6" fmla="*/ 839416 w 12192000"/>
              <a:gd name="connsiteY6" fmla="*/ 4076700 h 4076700"/>
              <a:gd name="connsiteX7" fmla="*/ 0 w 12192000"/>
              <a:gd name="connsiteY7" fmla="*/ 4076700 h 407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076700">
                <a:moveTo>
                  <a:pt x="0" y="0"/>
                </a:moveTo>
                <a:lnTo>
                  <a:pt x="12192000" y="0"/>
                </a:lnTo>
                <a:lnTo>
                  <a:pt x="12192000" y="4076700"/>
                </a:lnTo>
                <a:lnTo>
                  <a:pt x="3071416" y="4076700"/>
                </a:lnTo>
                <a:lnTo>
                  <a:pt x="3071416" y="1844700"/>
                </a:lnTo>
                <a:lnTo>
                  <a:pt x="839416" y="1844700"/>
                </a:lnTo>
                <a:lnTo>
                  <a:pt x="839416" y="4076700"/>
                </a:lnTo>
                <a:lnTo>
                  <a:pt x="0" y="40767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1461178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BD25A467-0D0C-4D8A-937D-27F2F1F93EFB}"/>
              </a:ext>
            </a:extLst>
          </p:cNvPr>
          <p:cNvGrpSpPr/>
          <p:nvPr/>
        </p:nvGrpSpPr>
        <p:grpSpPr>
          <a:xfrm>
            <a:off x="755836" y="1748283"/>
            <a:ext cx="2399370" cy="2328417"/>
            <a:chOff x="755836" y="1748283"/>
            <a:chExt cx="2399370" cy="2328417"/>
          </a:xfrm>
        </p:grpSpPr>
        <p:sp>
          <p:nvSpPr>
            <p:cNvPr id="12" name="Logo Background">
              <a:extLst>
                <a:ext uri="{FF2B5EF4-FFF2-40B4-BE49-F238E27FC236}">
                  <a16:creationId xmlns:a16="http://schemas.microsoft.com/office/drawing/2014/main" id="{B84715FC-9835-4154-96B7-22BBBE4C7DF5}"/>
                </a:ext>
              </a:extLst>
            </p:cNvPr>
            <p:cNvSpPr/>
            <p:nvPr/>
          </p:nvSpPr>
          <p:spPr>
            <a:xfrm>
              <a:off x="832760" y="1838325"/>
              <a:ext cx="2245522" cy="2238374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de-DE" sz="1400" dirty="0" err="1">
                <a:solidFill>
                  <a:schemeClr val="tx1"/>
                </a:solidFill>
              </a:endParaRPr>
            </a:p>
          </p:txBody>
        </p:sp>
        <p:pic>
          <p:nvPicPr>
            <p:cNvPr id="11" name="FAPS Logo">
              <a:extLst>
                <a:ext uri="{FF2B5EF4-FFF2-40B4-BE49-F238E27FC236}">
                  <a16:creationId xmlns:a16="http://schemas.microsoft.com/office/drawing/2014/main" id="{5D263906-B4D3-4320-84C5-0B46F8C9746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056"/>
            <a:stretch/>
          </p:blipFill>
          <p:spPr>
            <a:xfrm>
              <a:off x="755836" y="1748283"/>
              <a:ext cx="2399370" cy="2328417"/>
            </a:xfrm>
            <a:prstGeom prst="rect">
              <a:avLst/>
            </a:prstGeom>
          </p:spPr>
        </p:pic>
      </p:grpSp>
      <p:sp>
        <p:nvSpPr>
          <p:cNvPr id="18" name="Lehrstuhl">
            <a:extLst>
              <a:ext uri="{FF2B5EF4-FFF2-40B4-BE49-F238E27FC236}">
                <a16:creationId xmlns:a16="http://schemas.microsoft.com/office/drawing/2014/main" id="{865F1AB1-09E4-48E8-BD15-25AFDFED9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788" y="4292600"/>
            <a:ext cx="2415085" cy="9697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5000"/>
              </a:lnSpc>
              <a:spcBef>
                <a:spcPct val="7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Prof. Dr.-Ing. Jörg Franke</a:t>
            </a:r>
          </a:p>
          <a:p>
            <a:pPr marL="0" marR="0" lvl="0" indent="0" algn="l" defTabSz="914400" rtl="0" eaLnBrk="0" fontAlgn="base" latinLnBrk="0" hangingPunct="0">
              <a:lnSpc>
                <a:spcPct val="105000"/>
              </a:lnSpc>
              <a:spcBef>
                <a:spcPct val="7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Institute for Factory Automation</a:t>
            </a:r>
            <a:b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</a:b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and Production Systems</a:t>
            </a:r>
            <a:endParaRPr kumimoji="0" lang="de-DE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5000"/>
              </a:lnSpc>
              <a:spcBef>
                <a:spcPct val="7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Friedrich-Alexander-Universität Erlangen-Nürnberg</a:t>
            </a:r>
          </a:p>
        </p:txBody>
      </p:sp>
      <p:pic>
        <p:nvPicPr>
          <p:cNvPr id="14" name="FAU Logo">
            <a:extLst>
              <a:ext uri="{FF2B5EF4-FFF2-40B4-BE49-F238E27FC236}">
                <a16:creationId xmlns:a16="http://schemas.microsoft.com/office/drawing/2014/main" id="{6F57BB09-87BF-43CB-8DE5-75A4E62E44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058" y="5452053"/>
            <a:ext cx="2880000" cy="590379"/>
          </a:xfrm>
          <a:prstGeom prst="rect">
            <a:avLst/>
          </a:prstGeom>
        </p:spPr>
      </p:pic>
      <p:sp>
        <p:nvSpPr>
          <p:cNvPr id="9" name="Title Picture">
            <a:extLst>
              <a:ext uri="{FF2B5EF4-FFF2-40B4-BE49-F238E27FC236}">
                <a16:creationId xmlns:a16="http://schemas.microsoft.com/office/drawing/2014/main" id="{9D576FE6-05EC-4610-8B37-59904779AE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4076700"/>
          </a:xfrm>
          <a:custGeom>
            <a:avLst/>
            <a:gdLst>
              <a:gd name="connsiteX0" fmla="*/ 0 w 12192000"/>
              <a:gd name="connsiteY0" fmla="*/ 0 h 4076700"/>
              <a:gd name="connsiteX1" fmla="*/ 12192000 w 12192000"/>
              <a:gd name="connsiteY1" fmla="*/ 0 h 4076700"/>
              <a:gd name="connsiteX2" fmla="*/ 12192000 w 12192000"/>
              <a:gd name="connsiteY2" fmla="*/ 4076700 h 4076700"/>
              <a:gd name="connsiteX3" fmla="*/ 3071416 w 12192000"/>
              <a:gd name="connsiteY3" fmla="*/ 4076700 h 4076700"/>
              <a:gd name="connsiteX4" fmla="*/ 3071416 w 12192000"/>
              <a:gd name="connsiteY4" fmla="*/ 1844700 h 4076700"/>
              <a:gd name="connsiteX5" fmla="*/ 839416 w 12192000"/>
              <a:gd name="connsiteY5" fmla="*/ 1844700 h 4076700"/>
              <a:gd name="connsiteX6" fmla="*/ 839416 w 12192000"/>
              <a:gd name="connsiteY6" fmla="*/ 4076700 h 4076700"/>
              <a:gd name="connsiteX7" fmla="*/ 0 w 12192000"/>
              <a:gd name="connsiteY7" fmla="*/ 4076700 h 407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076700">
                <a:moveTo>
                  <a:pt x="0" y="0"/>
                </a:moveTo>
                <a:lnTo>
                  <a:pt x="12192000" y="0"/>
                </a:lnTo>
                <a:lnTo>
                  <a:pt x="12192000" y="4076700"/>
                </a:lnTo>
                <a:lnTo>
                  <a:pt x="3071416" y="4076700"/>
                </a:lnTo>
                <a:lnTo>
                  <a:pt x="3071416" y="1844700"/>
                </a:lnTo>
                <a:lnTo>
                  <a:pt x="839416" y="1844700"/>
                </a:lnTo>
                <a:lnTo>
                  <a:pt x="839416" y="4076700"/>
                </a:lnTo>
                <a:lnTo>
                  <a:pt x="0" y="40767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36D99F1-B28E-47D9-8E8E-E14C6DF5F8F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44213" y="4292600"/>
            <a:ext cx="6407999" cy="780983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2400"/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3" name="Untertitel 1">
            <a:extLst>
              <a:ext uri="{FF2B5EF4-FFF2-40B4-BE49-F238E27FC236}">
                <a16:creationId xmlns:a16="http://schemas.microsoft.com/office/drawing/2014/main" id="{FAC6BD1B-9849-451E-8BB2-53904153AB2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43475" y="5408613"/>
            <a:ext cx="6408738" cy="830997"/>
          </a:xfrm>
        </p:spPr>
        <p:txBody>
          <a:bodyPr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Subtitle of Presentation: Reason, Client, Co-operation partner, Lecture</a:t>
            </a:r>
          </a:p>
        </p:txBody>
      </p:sp>
    </p:spTree>
    <p:extLst>
      <p:ext uri="{BB962C8B-B14F-4D97-AF65-F5344CB8AC3E}">
        <p14:creationId xmlns:p14="http://schemas.microsoft.com/office/powerpoint/2010/main" val="94761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5" pos="3114" userDrawn="1">
          <p15:clr>
            <a:srgbClr val="A4A3A4"/>
          </p15:clr>
        </p15:guide>
        <p15:guide id="26" orient="horz" pos="2704" userDrawn="1">
          <p15:clr>
            <a:srgbClr val="A4A3A4"/>
          </p15:clr>
        </p15:guide>
        <p15:guide id="27" orient="horz" pos="3407" userDrawn="1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15E2404B-051E-4682-87D7-BC1D705237FF}"/>
              </a:ext>
            </a:extLst>
          </p:cNvPr>
          <p:cNvGrpSpPr/>
          <p:nvPr/>
        </p:nvGrpSpPr>
        <p:grpSpPr>
          <a:xfrm>
            <a:off x="755836" y="1748283"/>
            <a:ext cx="2399370" cy="2328417"/>
            <a:chOff x="755836" y="1748283"/>
            <a:chExt cx="2399370" cy="2328417"/>
          </a:xfrm>
        </p:grpSpPr>
        <p:sp>
          <p:nvSpPr>
            <p:cNvPr id="12" name="Logo Background">
              <a:extLst>
                <a:ext uri="{FF2B5EF4-FFF2-40B4-BE49-F238E27FC236}">
                  <a16:creationId xmlns:a16="http://schemas.microsoft.com/office/drawing/2014/main" id="{4C3E05BA-7813-47F8-82AF-887BB610E879}"/>
                </a:ext>
              </a:extLst>
            </p:cNvPr>
            <p:cNvSpPr/>
            <p:nvPr/>
          </p:nvSpPr>
          <p:spPr>
            <a:xfrm>
              <a:off x="832760" y="1838325"/>
              <a:ext cx="2245522" cy="2238374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de-DE" sz="1400" dirty="0" err="1">
                <a:solidFill>
                  <a:schemeClr val="tx1"/>
                </a:solidFill>
              </a:endParaRPr>
            </a:p>
          </p:txBody>
        </p:sp>
        <p:pic>
          <p:nvPicPr>
            <p:cNvPr id="11" name="FAPS Logo">
              <a:extLst>
                <a:ext uri="{FF2B5EF4-FFF2-40B4-BE49-F238E27FC236}">
                  <a16:creationId xmlns:a16="http://schemas.microsoft.com/office/drawing/2014/main" id="{5D263906-B4D3-4320-84C5-0B46F8C9746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056"/>
            <a:stretch/>
          </p:blipFill>
          <p:spPr>
            <a:xfrm>
              <a:off x="755836" y="1748283"/>
              <a:ext cx="2399370" cy="2328417"/>
            </a:xfrm>
            <a:prstGeom prst="rect">
              <a:avLst/>
            </a:prstGeom>
          </p:spPr>
        </p:pic>
      </p:grpSp>
      <p:sp>
        <p:nvSpPr>
          <p:cNvPr id="13" name="Foliennummer">
            <a:extLst>
              <a:ext uri="{FF2B5EF4-FFF2-40B4-BE49-F238E27FC236}">
                <a16:creationId xmlns:a16="http://schemas.microsoft.com/office/drawing/2014/main" id="{F950A202-0AFD-493E-9941-6FF23AB216BC}"/>
              </a:ext>
            </a:extLst>
          </p:cNvPr>
          <p:cNvSpPr txBox="1"/>
          <p:nvPr/>
        </p:nvSpPr>
        <p:spPr>
          <a:xfrm>
            <a:off x="11400000" y="6521807"/>
            <a:ext cx="792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indent="0" algn="ctr">
              <a:spcBef>
                <a:spcPts val="0"/>
              </a:spcBef>
              <a:buFontTx/>
              <a:buNone/>
            </a:pPr>
            <a:fld id="{5020D2FB-1A57-4A88-A56B-4A99FCEFB664}" type="slidenum">
              <a:rPr lang="de-DE" sz="800" b="0" smtClean="0">
                <a:latin typeface="+mn-lt"/>
              </a:rPr>
              <a:t>‹Nr.›</a:t>
            </a:fld>
            <a:endParaRPr lang="de-DE" sz="800" b="0" dirty="0">
              <a:latin typeface="+mn-lt"/>
            </a:endParaRPr>
          </a:p>
        </p:txBody>
      </p:sp>
      <p:sp>
        <p:nvSpPr>
          <p:cNvPr id="15" name="Datum">
            <a:extLst>
              <a:ext uri="{FF2B5EF4-FFF2-40B4-BE49-F238E27FC236}">
                <a16:creationId xmlns:a16="http://schemas.microsoft.com/office/drawing/2014/main" id="{A4FD5BBF-36CE-4206-BE14-808EB5F50782}"/>
              </a:ext>
            </a:extLst>
          </p:cNvPr>
          <p:cNvSpPr txBox="1"/>
          <p:nvPr/>
        </p:nvSpPr>
        <p:spPr>
          <a:xfrm>
            <a:off x="10560213" y="6521807"/>
            <a:ext cx="792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indent="0" algn="r">
              <a:spcBef>
                <a:spcPts val="0"/>
              </a:spcBef>
              <a:buFontTx/>
              <a:buNone/>
            </a:pPr>
            <a:r>
              <a:rPr lang="de-DE" sz="800" b="0" smtClean="0">
                <a:latin typeface="+mn-lt"/>
              </a:rPr>
              <a:t>04.01.2022</a:t>
            </a:r>
            <a:endParaRPr lang="de-DE" sz="800" b="0" dirty="0">
              <a:latin typeface="+mn-lt"/>
            </a:endParaRPr>
          </a:p>
        </p:txBody>
      </p:sp>
      <p:sp>
        <p:nvSpPr>
          <p:cNvPr id="16" name="Bearbeiter und Präsentation">
            <a:extLst>
              <a:ext uri="{FF2B5EF4-FFF2-40B4-BE49-F238E27FC236}">
                <a16:creationId xmlns:a16="http://schemas.microsoft.com/office/drawing/2014/main" id="{555FDF17-1CCD-492D-9C4E-75B89BD947E1}"/>
              </a:ext>
            </a:extLst>
          </p:cNvPr>
          <p:cNvSpPr txBox="1"/>
          <p:nvPr/>
        </p:nvSpPr>
        <p:spPr>
          <a:xfrm>
            <a:off x="839787" y="6521807"/>
            <a:ext cx="900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indent="0" algn="l">
              <a:spcBef>
                <a:spcPts val="0"/>
              </a:spcBef>
              <a:buFontTx/>
              <a:buNone/>
            </a:pPr>
            <a:r>
              <a:rPr lang="de-DE" sz="800" b="0" smtClean="0">
                <a:latin typeface="+mn-lt"/>
              </a:rPr>
              <a:t>Studentische Arbeiten - weiterführende Informationen</a:t>
            </a:r>
            <a:endParaRPr lang="de-DE" sz="800" b="0" dirty="0">
              <a:latin typeface="+mn-lt"/>
            </a:endParaRPr>
          </a:p>
        </p:txBody>
      </p:sp>
      <p:sp>
        <p:nvSpPr>
          <p:cNvPr id="18" name="Lehrstuhl">
            <a:extLst>
              <a:ext uri="{FF2B5EF4-FFF2-40B4-BE49-F238E27FC236}">
                <a16:creationId xmlns:a16="http://schemas.microsoft.com/office/drawing/2014/main" id="{865F1AB1-09E4-48E8-BD15-25AFDFED9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788" y="4292600"/>
            <a:ext cx="2415085" cy="9697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5000"/>
              </a:lnSpc>
              <a:spcBef>
                <a:spcPct val="7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Prof. Dr.-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Jörg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Franke</a:t>
            </a:r>
          </a:p>
          <a:p>
            <a:pPr marL="0" marR="0" lvl="0" indent="0" algn="l" defTabSz="914400" rtl="0" eaLnBrk="0" fontAlgn="base" latinLnBrk="0" hangingPunct="0">
              <a:lnSpc>
                <a:spcPct val="105000"/>
              </a:lnSpc>
              <a:spcBef>
                <a:spcPct val="7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Institute for Factory Automation</a:t>
            </a:r>
            <a:b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and Production Systems</a:t>
            </a:r>
          </a:p>
          <a:p>
            <a:pPr marL="0" marR="0" lvl="0" indent="0" algn="l" defTabSz="914400" rtl="0" eaLnBrk="0" fontAlgn="base" latinLnBrk="0" hangingPunct="0">
              <a:lnSpc>
                <a:spcPct val="105000"/>
              </a:lnSpc>
              <a:spcBef>
                <a:spcPct val="7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Friedrich-Alexander-Universität Erlangen-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Nürnberg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4" name="FAU Logo">
            <a:extLst>
              <a:ext uri="{FF2B5EF4-FFF2-40B4-BE49-F238E27FC236}">
                <a16:creationId xmlns:a16="http://schemas.microsoft.com/office/drawing/2014/main" id="{6F57BB09-87BF-43CB-8DE5-75A4E62E44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058" y="5452053"/>
            <a:ext cx="2880000" cy="590379"/>
          </a:xfrm>
          <a:prstGeom prst="rect">
            <a:avLst/>
          </a:prstGeom>
        </p:spPr>
      </p:pic>
      <p:sp>
        <p:nvSpPr>
          <p:cNvPr id="7" name="Thank you">
            <a:extLst>
              <a:ext uri="{FF2B5EF4-FFF2-40B4-BE49-F238E27FC236}">
                <a16:creationId xmlns:a16="http://schemas.microsoft.com/office/drawing/2014/main" id="{B8AEBB16-568B-416C-A52D-B9D0B7AD8666}"/>
              </a:ext>
            </a:extLst>
          </p:cNvPr>
          <p:cNvSpPr txBox="1"/>
          <p:nvPr/>
        </p:nvSpPr>
        <p:spPr>
          <a:xfrm>
            <a:off x="6791155" y="4811018"/>
            <a:ext cx="4561057" cy="9233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6000" b="1" cap="all" baseline="0" noProof="0"/>
              <a:t>Thank you</a:t>
            </a:r>
          </a:p>
        </p:txBody>
      </p:sp>
      <p:sp>
        <p:nvSpPr>
          <p:cNvPr id="9" name="Title Picture">
            <a:extLst>
              <a:ext uri="{FF2B5EF4-FFF2-40B4-BE49-F238E27FC236}">
                <a16:creationId xmlns:a16="http://schemas.microsoft.com/office/drawing/2014/main" id="{9D576FE6-05EC-4610-8B37-59904779AE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4076700"/>
          </a:xfrm>
          <a:custGeom>
            <a:avLst/>
            <a:gdLst>
              <a:gd name="connsiteX0" fmla="*/ 0 w 12192000"/>
              <a:gd name="connsiteY0" fmla="*/ 0 h 4076700"/>
              <a:gd name="connsiteX1" fmla="*/ 12192000 w 12192000"/>
              <a:gd name="connsiteY1" fmla="*/ 0 h 4076700"/>
              <a:gd name="connsiteX2" fmla="*/ 12192000 w 12192000"/>
              <a:gd name="connsiteY2" fmla="*/ 4076700 h 4076700"/>
              <a:gd name="connsiteX3" fmla="*/ 3071416 w 12192000"/>
              <a:gd name="connsiteY3" fmla="*/ 4076700 h 4076700"/>
              <a:gd name="connsiteX4" fmla="*/ 3071416 w 12192000"/>
              <a:gd name="connsiteY4" fmla="*/ 1844700 h 4076700"/>
              <a:gd name="connsiteX5" fmla="*/ 839416 w 12192000"/>
              <a:gd name="connsiteY5" fmla="*/ 1844700 h 4076700"/>
              <a:gd name="connsiteX6" fmla="*/ 839416 w 12192000"/>
              <a:gd name="connsiteY6" fmla="*/ 4076700 h 4076700"/>
              <a:gd name="connsiteX7" fmla="*/ 0 w 12192000"/>
              <a:gd name="connsiteY7" fmla="*/ 4076700 h 407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076700">
                <a:moveTo>
                  <a:pt x="0" y="0"/>
                </a:moveTo>
                <a:lnTo>
                  <a:pt x="12192000" y="0"/>
                </a:lnTo>
                <a:lnTo>
                  <a:pt x="12192000" y="4076700"/>
                </a:lnTo>
                <a:lnTo>
                  <a:pt x="3071416" y="4076700"/>
                </a:lnTo>
                <a:lnTo>
                  <a:pt x="3071416" y="1844700"/>
                </a:lnTo>
                <a:lnTo>
                  <a:pt x="839416" y="1844700"/>
                </a:lnTo>
                <a:lnTo>
                  <a:pt x="839416" y="4076700"/>
                </a:lnTo>
                <a:lnTo>
                  <a:pt x="0" y="40767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de-DE" noProof="0"/>
              <a:t>Bild durch Klicken auf Symbol hinzufügen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02404203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wmf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908977AA-1B13-454F-A7A7-5E54284DA029}"/>
              </a:ext>
            </a:extLst>
          </p:cNvPr>
          <p:cNvGrpSpPr>
            <a:grpSpLocks noChangeAspect="1"/>
          </p:cNvGrpSpPr>
          <p:nvPr/>
        </p:nvGrpSpPr>
        <p:grpSpPr>
          <a:xfrm>
            <a:off x="11352212" y="0"/>
            <a:ext cx="839788" cy="838800"/>
            <a:chOff x="11352212" y="0"/>
            <a:chExt cx="839788" cy="838800"/>
          </a:xfrm>
        </p:grpSpPr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DA29F8B8-7248-401D-BA2D-BC06A0D2199C}"/>
                </a:ext>
              </a:extLst>
            </p:cNvPr>
            <p:cNvSpPr/>
            <p:nvPr/>
          </p:nvSpPr>
          <p:spPr>
            <a:xfrm>
              <a:off x="11352212" y="0"/>
              <a:ext cx="839788" cy="8388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de-DE" sz="1400" dirty="0" err="1">
                <a:solidFill>
                  <a:schemeClr val="tx1"/>
                </a:solidFill>
              </a:endParaRPr>
            </a:p>
          </p:txBody>
        </p:sp>
        <p:pic>
          <p:nvPicPr>
            <p:cNvPr id="12" name="FAPS Logo">
              <a:extLst>
                <a:ext uri="{FF2B5EF4-FFF2-40B4-BE49-F238E27FC236}">
                  <a16:creationId xmlns:a16="http://schemas.microsoft.com/office/drawing/2014/main" id="{BC303D02-1D43-4413-AFFC-C24D13E8EF4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05" t="3920" r="3774" b="3985"/>
            <a:stretch/>
          </p:blipFill>
          <p:spPr>
            <a:xfrm>
              <a:off x="11361890" y="1094"/>
              <a:ext cx="830110" cy="836613"/>
            </a:xfrm>
            <a:prstGeom prst="rect">
              <a:avLst/>
            </a:prstGeom>
          </p:spPr>
        </p:pic>
      </p:grpSp>
      <p:sp>
        <p:nvSpPr>
          <p:cNvPr id="13" name="Title bar">
            <a:extLst>
              <a:ext uri="{FF2B5EF4-FFF2-40B4-BE49-F238E27FC236}">
                <a16:creationId xmlns:a16="http://schemas.microsoft.com/office/drawing/2014/main" id="{992D165D-EB18-4621-B40E-4B97D4C772F6}"/>
              </a:ext>
            </a:extLst>
          </p:cNvPr>
          <p:cNvSpPr>
            <a:spLocks/>
          </p:cNvSpPr>
          <p:nvPr/>
        </p:nvSpPr>
        <p:spPr bwMode="auto">
          <a:xfrm>
            <a:off x="-1" y="388836"/>
            <a:ext cx="630000" cy="165600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5640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15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17" name="Foliennummer">
            <a:extLst>
              <a:ext uri="{FF2B5EF4-FFF2-40B4-BE49-F238E27FC236}">
                <a16:creationId xmlns:a16="http://schemas.microsoft.com/office/drawing/2014/main" id="{F18923C1-6068-429F-B230-5413F2F417DD}"/>
              </a:ext>
            </a:extLst>
          </p:cNvPr>
          <p:cNvSpPr txBox="1"/>
          <p:nvPr/>
        </p:nvSpPr>
        <p:spPr>
          <a:xfrm>
            <a:off x="11400000" y="6521807"/>
            <a:ext cx="792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indent="0" algn="ctr">
              <a:spcBef>
                <a:spcPts val="0"/>
              </a:spcBef>
              <a:buFontTx/>
              <a:buNone/>
            </a:pPr>
            <a:fld id="{5020D2FB-1A57-4A88-A56B-4A99FCEFB664}" type="slidenum">
              <a:rPr lang="de-DE" sz="800" b="0" smtClean="0">
                <a:latin typeface="+mn-lt"/>
              </a:rPr>
              <a:t>‹Nr.›</a:t>
            </a:fld>
            <a:endParaRPr lang="de-DE" sz="800" b="0" dirty="0">
              <a:latin typeface="+mn-lt"/>
            </a:endParaRPr>
          </a:p>
        </p:txBody>
      </p:sp>
      <p:sp>
        <p:nvSpPr>
          <p:cNvPr id="16" name="Datum">
            <a:extLst>
              <a:ext uri="{FF2B5EF4-FFF2-40B4-BE49-F238E27FC236}">
                <a16:creationId xmlns:a16="http://schemas.microsoft.com/office/drawing/2014/main" id="{FA1F0C9C-216A-4036-B9F8-B7E92D82619D}"/>
              </a:ext>
            </a:extLst>
          </p:cNvPr>
          <p:cNvSpPr txBox="1"/>
          <p:nvPr/>
        </p:nvSpPr>
        <p:spPr>
          <a:xfrm>
            <a:off x="10560213" y="6521807"/>
            <a:ext cx="792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indent="0" algn="r">
              <a:spcBef>
                <a:spcPts val="0"/>
              </a:spcBef>
              <a:buFontTx/>
              <a:buNone/>
            </a:pPr>
            <a:r>
              <a:rPr lang="de-DE" sz="800" b="0" smtClean="0">
                <a:latin typeface="+mn-lt"/>
              </a:rPr>
              <a:t>04.01.2022</a:t>
            </a:r>
            <a:endParaRPr lang="de-DE" sz="800" b="0" dirty="0">
              <a:latin typeface="+mn-lt"/>
            </a:endParaRPr>
          </a:p>
        </p:txBody>
      </p:sp>
      <p:sp>
        <p:nvSpPr>
          <p:cNvPr id="15" name="Bearbeiter und Präsentation">
            <a:extLst>
              <a:ext uri="{FF2B5EF4-FFF2-40B4-BE49-F238E27FC236}">
                <a16:creationId xmlns:a16="http://schemas.microsoft.com/office/drawing/2014/main" id="{5942874B-2F03-4CB3-8E22-62389FCA0E2A}"/>
              </a:ext>
            </a:extLst>
          </p:cNvPr>
          <p:cNvSpPr txBox="1"/>
          <p:nvPr/>
        </p:nvSpPr>
        <p:spPr>
          <a:xfrm>
            <a:off x="839787" y="6521807"/>
            <a:ext cx="900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indent="0" algn="l">
              <a:spcBef>
                <a:spcPts val="0"/>
              </a:spcBef>
              <a:buFontTx/>
              <a:buNone/>
            </a:pPr>
            <a:r>
              <a:rPr lang="de-DE" sz="800" b="0" smtClean="0">
                <a:latin typeface="+mn-lt"/>
              </a:rPr>
              <a:t>Studentische Arbeiten - weiterführende Informationen</a:t>
            </a:r>
            <a:endParaRPr lang="de-DE" sz="800" b="0" dirty="0">
              <a:latin typeface="+mn-lt"/>
            </a:endParaRP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FA8F9A1-B8D7-485B-8A4C-BBEFE2273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333375"/>
            <a:ext cx="10512425" cy="50433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1">
            <a:extLst>
              <a:ext uri="{FF2B5EF4-FFF2-40B4-BE49-F238E27FC236}">
                <a16:creationId xmlns:a16="http://schemas.microsoft.com/office/drawing/2014/main" id="{8BBCBA7C-65E1-4216-ADAA-617BD3A66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7" y="1268413"/>
            <a:ext cx="10512426" cy="50403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1246292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</p:sldLayoutIdLst>
  <p:hf sldNum="0"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1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800"/>
        </a:spcBef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800"/>
        </a:spcBef>
        <a:buFontTx/>
        <a:buNone/>
        <a:defRPr sz="1400" b="1" kern="1200">
          <a:solidFill>
            <a:schemeClr val="tx1"/>
          </a:solidFill>
          <a:latin typeface="+mj-lt"/>
          <a:ea typeface="+mn-ea"/>
          <a:cs typeface="+mn-cs"/>
        </a:defRPr>
      </a:lvl2pPr>
      <a:lvl3pPr marL="216000" indent="-216000" algn="l" defTabSz="914400" rtl="0" eaLnBrk="1" latinLnBrk="0" hangingPunct="1">
        <a:lnSpc>
          <a:spcPct val="100000"/>
        </a:lnSpc>
        <a:spcBef>
          <a:spcPts val="800"/>
        </a:spcBef>
        <a:buClr>
          <a:schemeClr val="bg2"/>
        </a:buClr>
        <a:buFont typeface="Wingdings" panose="05000000000000000000" pitchFamily="2" charset="2"/>
        <a:buChar char="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44000" algn="l" defTabSz="914400" rtl="0" eaLnBrk="1" latinLnBrk="0" hangingPunct="1">
        <a:lnSpc>
          <a:spcPct val="100000"/>
        </a:lnSpc>
        <a:spcBef>
          <a:spcPts val="400"/>
        </a:spcBef>
        <a:buClr>
          <a:schemeClr val="bg2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360000" indent="-144000" algn="l" defTabSz="914400" rtl="0" eaLnBrk="1" latinLnBrk="0" hangingPunct="1">
        <a:lnSpc>
          <a:spcPct val="100000"/>
        </a:lnSpc>
        <a:spcBef>
          <a:spcPts val="400"/>
        </a:spcBef>
        <a:buClr>
          <a:schemeClr val="bg2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360000" indent="-144000" algn="l" defTabSz="914400" rtl="0" eaLnBrk="1" latinLnBrk="0" hangingPunct="1">
        <a:lnSpc>
          <a:spcPct val="100000"/>
        </a:lnSpc>
        <a:spcBef>
          <a:spcPts val="400"/>
        </a:spcBef>
        <a:buClr>
          <a:schemeClr val="bg2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360000" indent="-144000" algn="l" defTabSz="914400" rtl="0" eaLnBrk="1" latinLnBrk="0" hangingPunct="1">
        <a:lnSpc>
          <a:spcPct val="100000"/>
        </a:lnSpc>
        <a:spcBef>
          <a:spcPts val="400"/>
        </a:spcBef>
        <a:buClr>
          <a:schemeClr val="bg2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60000" indent="-144000" algn="l" defTabSz="914400" rtl="0" eaLnBrk="1" latinLnBrk="0" hangingPunct="1">
        <a:lnSpc>
          <a:spcPct val="100000"/>
        </a:lnSpc>
        <a:spcBef>
          <a:spcPts val="400"/>
        </a:spcBef>
        <a:buClr>
          <a:schemeClr val="bg2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" indent="-144000" algn="l" defTabSz="914400" rtl="0" eaLnBrk="1" latinLnBrk="0" hangingPunct="1">
        <a:lnSpc>
          <a:spcPct val="100000"/>
        </a:lnSpc>
        <a:spcBef>
          <a:spcPts val="400"/>
        </a:spcBef>
        <a:buClr>
          <a:schemeClr val="bg2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indent="0" algn="l" defTabSz="914400" rtl="0" eaLnBrk="1" latinLnBrk="0" hangingPunct="1">
        <a:lnSpc>
          <a:spcPct val="100000"/>
        </a:lnSpc>
        <a:spcBef>
          <a:spcPts val="800"/>
        </a:spcBef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800"/>
        </a:spcBef>
        <a:buFontTx/>
        <a:buNone/>
        <a:defRPr sz="1400" b="1" kern="1200">
          <a:solidFill>
            <a:schemeClr val="tx1"/>
          </a:solidFill>
          <a:latin typeface="+mj-lt"/>
          <a:ea typeface="+mn-ea"/>
          <a:cs typeface="+mn-cs"/>
        </a:defRPr>
      </a:lvl2pPr>
      <a:lvl3pPr marL="216000" indent="-216000" algn="l" defTabSz="914400" rtl="0" eaLnBrk="1" latinLnBrk="0" hangingPunct="1">
        <a:lnSpc>
          <a:spcPct val="100000"/>
        </a:lnSpc>
        <a:spcBef>
          <a:spcPts val="800"/>
        </a:spcBef>
        <a:buClr>
          <a:schemeClr val="bg2"/>
        </a:buClr>
        <a:buFont typeface="Wingdings" panose="05000000000000000000" pitchFamily="2" charset="2"/>
        <a:buChar char="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44000" algn="l" defTabSz="914400" rtl="0" eaLnBrk="1" latinLnBrk="0" hangingPunct="1">
        <a:lnSpc>
          <a:spcPct val="100000"/>
        </a:lnSpc>
        <a:spcBef>
          <a:spcPts val="400"/>
        </a:spcBef>
        <a:buClr>
          <a:schemeClr val="bg2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360000" indent="-144000" algn="l" defTabSz="914400" rtl="0" eaLnBrk="1" latinLnBrk="0" hangingPunct="1">
        <a:lnSpc>
          <a:spcPct val="100000"/>
        </a:lnSpc>
        <a:spcBef>
          <a:spcPts val="400"/>
        </a:spcBef>
        <a:buClr>
          <a:schemeClr val="bg2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360000" indent="-144000" algn="l" defTabSz="914400" rtl="0" eaLnBrk="1" latinLnBrk="0" hangingPunct="1">
        <a:lnSpc>
          <a:spcPct val="100000"/>
        </a:lnSpc>
        <a:spcBef>
          <a:spcPts val="400"/>
        </a:spcBef>
        <a:buClr>
          <a:schemeClr val="bg2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360000" indent="-144000" algn="l" defTabSz="914400" rtl="0" eaLnBrk="1" latinLnBrk="0" hangingPunct="1">
        <a:lnSpc>
          <a:spcPct val="100000"/>
        </a:lnSpc>
        <a:spcBef>
          <a:spcPts val="400"/>
        </a:spcBef>
        <a:buClr>
          <a:schemeClr val="bg2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60000" indent="-144000" algn="l" defTabSz="914400" rtl="0" eaLnBrk="1" latinLnBrk="0" hangingPunct="1">
        <a:lnSpc>
          <a:spcPct val="100000"/>
        </a:lnSpc>
        <a:spcBef>
          <a:spcPts val="400"/>
        </a:spcBef>
        <a:buClr>
          <a:schemeClr val="bg2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" indent="-144000" algn="l" defTabSz="914400" rtl="0" eaLnBrk="1" latinLnBrk="0" hangingPunct="1">
        <a:lnSpc>
          <a:spcPct val="100000"/>
        </a:lnSpc>
        <a:spcBef>
          <a:spcPts val="400"/>
        </a:spcBef>
        <a:buClr>
          <a:schemeClr val="bg2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60" pos="529" userDrawn="1">
          <p15:clr>
            <a:srgbClr val="A4A3A4"/>
          </p15:clr>
        </p15:guide>
        <p15:guide id="61" orient="horz" pos="3974" userDrawn="1">
          <p15:clr>
            <a:srgbClr val="A4A3A4"/>
          </p15:clr>
        </p15:guide>
        <p15:guide id="62" orient="horz" pos="210" userDrawn="1">
          <p15:clr>
            <a:srgbClr val="A4A3A4"/>
          </p15:clr>
        </p15:guide>
        <p15:guide id="63" pos="7151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rkon.faps.uni-erlangen.de/" TargetMode="External"/><Relationship Id="rId2" Type="http://schemas.openxmlformats.org/officeDocument/2006/relationships/hyperlink" Target="https://git.faps.uni-erlangen.de/Dokumentation/LaborErlangen/Biomechatronik/Hardware/Aerosol-Jet-Drucker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cholar.google.de/" TargetMode="External"/><Relationship Id="rId2" Type="http://schemas.openxmlformats.org/officeDocument/2006/relationships/hyperlink" Target="https://ub.fau.de/recherchieren/kataloge/katalog/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scopus.com/home.uri?zone=header&amp;origin=" TargetMode="External"/><Relationship Id="rId4" Type="http://schemas.openxmlformats.org/officeDocument/2006/relationships/hyperlink" Target="https://www.ieee.org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unker.com/de/plagiat" TargetMode="Externa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hyperlink" Target="https://www.1a-studi.de/wissensdatenbank/akademisches-schreiben/abbildungen-tabellen#abb1" TargetMode="Externa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A64CCA-1948-48FA-8A80-64294DECF3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6793" y="4292600"/>
            <a:ext cx="6622741" cy="780983"/>
          </a:xfrm>
        </p:spPr>
        <p:txBody>
          <a:bodyPr/>
          <a:lstStyle/>
          <a:p>
            <a:r>
              <a:rPr lang="de-DE" smtClean="0"/>
              <a:t>Weiterführende Informationen </a:t>
            </a:r>
            <a:r>
              <a:rPr lang="de-DE" dirty="0"/>
              <a:t>zur Erstellung einer studentischen </a:t>
            </a:r>
            <a:r>
              <a:rPr lang="de-DE" dirty="0" smtClean="0"/>
              <a:t>Arbeit am FAPS in den Forschungsbereichen Robotik und Medizintechnik</a:t>
            </a:r>
            <a:endParaRPr lang="de-DE" dirty="0"/>
          </a:p>
        </p:txBody>
      </p:sp>
      <p:pic>
        <p:nvPicPr>
          <p:cNvPr id="4" name="Bildplatzhalter 3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8" t="30" r="68" b="51844"/>
          <a:stretch/>
        </p:blipFill>
        <p:spPr/>
      </p:pic>
      <p:sp>
        <p:nvSpPr>
          <p:cNvPr id="5" name="Label1"/>
          <p:cNvSpPr txBox="1"/>
          <p:nvPr/>
        </p:nvSpPr>
        <p:spPr>
          <a:xfrm>
            <a:off x="8591551" y="3917809"/>
            <a:ext cx="3600449" cy="170782"/>
          </a:xfrm>
          <a:prstGeom prst="rect">
            <a:avLst/>
          </a:prstGeom>
          <a:noFill/>
        </p:spPr>
        <p:txBody>
          <a:bodyPr vert="horz" wrap="square" lIns="18000" tIns="29210" rIns="18000" bIns="18000" rtlCol="0" anchor="t">
            <a:spAutoFit/>
          </a:bodyPr>
          <a:lstStyle/>
          <a:p>
            <a:pPr algn="r"/>
            <a:r>
              <a:rPr lang="de-DE" sz="800" dirty="0" smtClean="0"/>
              <a:t>Bildquelle: </a:t>
            </a:r>
            <a:r>
              <a:rPr lang="de-DE" sz="800" dirty="0" err="1" smtClean="0"/>
              <a:t>Pixabay</a:t>
            </a:r>
            <a:r>
              <a:rPr lang="de-DE" sz="800" dirty="0" smtClean="0"/>
              <a:t>, 2020</a:t>
            </a:r>
            <a:endParaRPr lang="de-DE" sz="800" dirty="0" smtClean="0"/>
          </a:p>
        </p:txBody>
      </p:sp>
    </p:spTree>
    <p:extLst>
      <p:ext uri="{BB962C8B-B14F-4D97-AF65-F5344CB8AC3E}">
        <p14:creationId xmlns:p14="http://schemas.microsoft.com/office/powerpoint/2010/main" val="495311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erader Verbinder 9"/>
          <p:cNvCxnSpPr>
            <a:cxnSpLocks/>
          </p:cNvCxnSpPr>
          <p:nvPr/>
        </p:nvCxnSpPr>
        <p:spPr>
          <a:xfrm flipV="1">
            <a:off x="1368551" y="2853219"/>
            <a:ext cx="0" cy="867904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51"/>
          <p:cNvCxnSpPr>
            <a:cxnSpLocks/>
          </p:cNvCxnSpPr>
          <p:nvPr/>
        </p:nvCxnSpPr>
        <p:spPr>
          <a:xfrm flipV="1">
            <a:off x="8395433" y="2888642"/>
            <a:ext cx="0" cy="82181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Gerader Verbinder 48"/>
          <p:cNvCxnSpPr>
            <a:cxnSpLocks/>
          </p:cNvCxnSpPr>
          <p:nvPr/>
        </p:nvCxnSpPr>
        <p:spPr>
          <a:xfrm flipH="1" flipV="1">
            <a:off x="6050954" y="2871853"/>
            <a:ext cx="2" cy="82181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/>
          <p:cNvCxnSpPr/>
          <p:nvPr/>
        </p:nvCxnSpPr>
        <p:spPr>
          <a:xfrm flipV="1">
            <a:off x="7227344" y="3817960"/>
            <a:ext cx="0" cy="90000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/>
          <p:cNvCxnSpPr>
            <a:cxnSpLocks/>
          </p:cNvCxnSpPr>
          <p:nvPr/>
        </p:nvCxnSpPr>
        <p:spPr>
          <a:xfrm flipH="1" flipV="1">
            <a:off x="3715620" y="2888259"/>
            <a:ext cx="6554" cy="797824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/>
          <p:cNvCxnSpPr>
            <a:cxnSpLocks/>
          </p:cNvCxnSpPr>
          <p:nvPr/>
        </p:nvCxnSpPr>
        <p:spPr>
          <a:xfrm flipH="1">
            <a:off x="2539152" y="3845724"/>
            <a:ext cx="965" cy="90000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Der Ablauf einer studentischen Arbeit </a:t>
            </a:r>
            <a:br>
              <a:rPr lang="de-DE" dirty="0"/>
            </a:br>
            <a:r>
              <a:rPr lang="de-DE" dirty="0"/>
              <a:t>verfolgt immer das gleiche Muster.</a:t>
            </a:r>
          </a:p>
        </p:txBody>
      </p:sp>
      <p:cxnSp>
        <p:nvCxnSpPr>
          <p:cNvPr id="4" name="Gerade Verbindung mit Pfeil 3"/>
          <p:cNvCxnSpPr>
            <a:cxnSpLocks/>
          </p:cNvCxnSpPr>
          <p:nvPr/>
        </p:nvCxnSpPr>
        <p:spPr>
          <a:xfrm>
            <a:off x="839787" y="3777766"/>
            <a:ext cx="10528423" cy="1100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lipse 5"/>
          <p:cNvSpPr/>
          <p:nvPr/>
        </p:nvSpPr>
        <p:spPr>
          <a:xfrm>
            <a:off x="1296551" y="3694065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de-DE" sz="1400" dirty="0" err="1">
              <a:solidFill>
                <a:schemeClr val="tx1"/>
              </a:solidFill>
            </a:endParaRPr>
          </a:p>
        </p:txBody>
      </p:sp>
      <p:sp>
        <p:nvSpPr>
          <p:cNvPr id="7" name="Ellipse 6"/>
          <p:cNvSpPr/>
          <p:nvPr/>
        </p:nvSpPr>
        <p:spPr>
          <a:xfrm>
            <a:off x="10661360" y="3694065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de-DE" sz="1400" dirty="0" err="1">
              <a:solidFill>
                <a:schemeClr val="tx1"/>
              </a:solidFill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836362" y="2495205"/>
            <a:ext cx="1196830" cy="28263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de-DE" dirty="0"/>
              <a:t>Ausschreibung</a:t>
            </a:r>
          </a:p>
        </p:txBody>
      </p:sp>
      <p:sp>
        <p:nvSpPr>
          <p:cNvPr id="12" name="Ellipse 11"/>
          <p:cNvSpPr/>
          <p:nvPr/>
        </p:nvSpPr>
        <p:spPr>
          <a:xfrm>
            <a:off x="2467152" y="3694065"/>
            <a:ext cx="144000" cy="144000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de-DE" sz="1400" dirty="0" err="1">
              <a:solidFill>
                <a:schemeClr val="tx1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3637753" y="3694065"/>
            <a:ext cx="144000" cy="144000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de-DE" sz="1400" dirty="0" err="1">
              <a:solidFill>
                <a:schemeClr val="tx1"/>
              </a:solidFill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8320157" y="3694065"/>
            <a:ext cx="144000" cy="144000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de-DE" sz="1400" dirty="0" err="1">
              <a:solidFill>
                <a:schemeClr val="tx1"/>
              </a:solidFill>
            </a:endParaRPr>
          </a:p>
        </p:txBody>
      </p:sp>
      <p:sp>
        <p:nvSpPr>
          <p:cNvPr id="17" name="Ellipse 16"/>
          <p:cNvSpPr/>
          <p:nvPr/>
        </p:nvSpPr>
        <p:spPr>
          <a:xfrm>
            <a:off x="5978955" y="3697355"/>
            <a:ext cx="144000" cy="140710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de-DE" sz="1400" dirty="0" err="1">
              <a:solidFill>
                <a:schemeClr val="tx1"/>
              </a:solidFill>
            </a:endParaRPr>
          </a:p>
        </p:txBody>
      </p:sp>
      <p:sp>
        <p:nvSpPr>
          <p:cNvPr id="20" name="Textfeld 19"/>
          <p:cNvSpPr txBox="1"/>
          <p:nvPr/>
        </p:nvSpPr>
        <p:spPr>
          <a:xfrm>
            <a:off x="1989375" y="4736310"/>
            <a:ext cx="1099554" cy="37407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de-DE" dirty="0"/>
              <a:t>Vorstellungs-gespräch</a:t>
            </a:r>
          </a:p>
        </p:txBody>
      </p:sp>
      <p:sp>
        <p:nvSpPr>
          <p:cNvPr id="29" name="Textfeld 28"/>
          <p:cNvSpPr txBox="1"/>
          <p:nvPr/>
        </p:nvSpPr>
        <p:spPr>
          <a:xfrm>
            <a:off x="3175228" y="2403016"/>
            <a:ext cx="1075604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de-DE" dirty="0" smtClean="0"/>
              <a:t>Beiderseitige Zusage</a:t>
            </a:r>
            <a:endParaRPr lang="de-DE" dirty="0"/>
          </a:p>
        </p:txBody>
      </p:sp>
      <p:sp>
        <p:nvSpPr>
          <p:cNvPr id="39" name="Ellipse 38"/>
          <p:cNvSpPr/>
          <p:nvPr/>
        </p:nvSpPr>
        <p:spPr>
          <a:xfrm>
            <a:off x="7149556" y="3694065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de-DE" dirty="0" err="1">
              <a:solidFill>
                <a:schemeClr val="tx1"/>
              </a:solidFill>
            </a:endParaRPr>
          </a:p>
        </p:txBody>
      </p:sp>
      <p:sp>
        <p:nvSpPr>
          <p:cNvPr id="55" name="Textfeld 54"/>
          <p:cNvSpPr txBox="1"/>
          <p:nvPr/>
        </p:nvSpPr>
        <p:spPr>
          <a:xfrm>
            <a:off x="5413024" y="2547611"/>
            <a:ext cx="1275859" cy="4292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de-DE" dirty="0"/>
              <a:t>X Treffen*</a:t>
            </a:r>
          </a:p>
        </p:txBody>
      </p:sp>
      <p:sp>
        <p:nvSpPr>
          <p:cNvPr id="56" name="Textfeld 55"/>
          <p:cNvSpPr txBox="1"/>
          <p:nvPr/>
        </p:nvSpPr>
        <p:spPr>
          <a:xfrm>
            <a:off x="7738939" y="2570557"/>
            <a:ext cx="1275859" cy="4292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de-DE" dirty="0"/>
              <a:t>X Treffen*</a:t>
            </a:r>
          </a:p>
        </p:txBody>
      </p:sp>
      <p:sp>
        <p:nvSpPr>
          <p:cNvPr id="57" name="Textfeld 56"/>
          <p:cNvSpPr txBox="1"/>
          <p:nvPr/>
        </p:nvSpPr>
        <p:spPr>
          <a:xfrm>
            <a:off x="8940800" y="4697286"/>
            <a:ext cx="1275859" cy="26186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spcBef>
                <a:spcPts val="0"/>
              </a:spcBef>
            </a:pPr>
            <a:r>
              <a:rPr lang="de-DE" dirty="0"/>
              <a:t>Abgabe      </a:t>
            </a:r>
          </a:p>
        </p:txBody>
      </p:sp>
      <p:sp>
        <p:nvSpPr>
          <p:cNvPr id="58" name="Textfeld 57"/>
          <p:cNvSpPr txBox="1"/>
          <p:nvPr/>
        </p:nvSpPr>
        <p:spPr>
          <a:xfrm>
            <a:off x="839787" y="5916168"/>
            <a:ext cx="5020686" cy="39255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de-DE" dirty="0"/>
              <a:t>*</a:t>
            </a:r>
            <a:r>
              <a:rPr lang="de-DE" sz="1000" dirty="0"/>
              <a:t>Abhängig von der Art der Arbeit (BA, PA, MA) und dem Inhalt (praktisch/theoretisch</a:t>
            </a:r>
            <a:r>
              <a:rPr lang="de-DE" sz="1000" dirty="0" smtClean="0"/>
              <a:t>)</a:t>
            </a:r>
          </a:p>
          <a:p>
            <a:pPr>
              <a:spcBef>
                <a:spcPts val="0"/>
              </a:spcBef>
            </a:pPr>
            <a:r>
              <a:rPr lang="de-DE" sz="1000" dirty="0" smtClean="0"/>
              <a:t>**Abhängig </a:t>
            </a:r>
            <a:r>
              <a:rPr lang="de-DE" sz="1000" dirty="0"/>
              <a:t>von der </a:t>
            </a:r>
            <a:r>
              <a:rPr lang="de-DE" sz="1000" dirty="0" smtClean="0"/>
              <a:t>Prüfungsordnung des Studiengangs</a:t>
            </a:r>
            <a:endParaRPr lang="de-DE" sz="1000" dirty="0"/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92B82DF3-AF6F-4EC0-9BE7-B1CC6BBEAD25}"/>
              </a:ext>
            </a:extLst>
          </p:cNvPr>
          <p:cNvSpPr/>
          <p:nvPr/>
        </p:nvSpPr>
        <p:spPr>
          <a:xfrm>
            <a:off x="440056" y="4693875"/>
            <a:ext cx="10840834" cy="653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de-DE" sz="1400" dirty="0" err="1">
              <a:solidFill>
                <a:schemeClr val="tx1"/>
              </a:solidFill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44B13D3A-0134-4BAD-B756-010C6E7F0BDE}"/>
              </a:ext>
            </a:extLst>
          </p:cNvPr>
          <p:cNvSpPr/>
          <p:nvPr/>
        </p:nvSpPr>
        <p:spPr>
          <a:xfrm>
            <a:off x="342172" y="2836298"/>
            <a:ext cx="10840834" cy="653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de-DE" sz="1400" dirty="0" err="1">
              <a:solidFill>
                <a:schemeClr val="tx1"/>
              </a:solidFill>
            </a:endParaRPr>
          </a:p>
        </p:txBody>
      </p:sp>
      <p:sp>
        <p:nvSpPr>
          <p:cNvPr id="43" name="Textfeld 42"/>
          <p:cNvSpPr txBox="1"/>
          <p:nvPr/>
        </p:nvSpPr>
        <p:spPr>
          <a:xfrm>
            <a:off x="6665740" y="4828218"/>
            <a:ext cx="1104919" cy="6400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de-DE" dirty="0" smtClean="0"/>
              <a:t>Anmeldung</a:t>
            </a:r>
            <a:endParaRPr lang="de-DE" dirty="0"/>
          </a:p>
        </p:txBody>
      </p:sp>
      <p:cxnSp>
        <p:nvCxnSpPr>
          <p:cNvPr id="44" name="Gerader Verbinder 43"/>
          <p:cNvCxnSpPr>
            <a:cxnSpLocks/>
          </p:cNvCxnSpPr>
          <p:nvPr/>
        </p:nvCxnSpPr>
        <p:spPr>
          <a:xfrm flipV="1">
            <a:off x="10733359" y="2890517"/>
            <a:ext cx="0" cy="82181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r Verbinder 58"/>
          <p:cNvCxnSpPr>
            <a:cxnSpLocks/>
          </p:cNvCxnSpPr>
          <p:nvPr/>
        </p:nvCxnSpPr>
        <p:spPr>
          <a:xfrm>
            <a:off x="4892744" y="3838065"/>
            <a:ext cx="0" cy="90000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Ellipse 59"/>
          <p:cNvSpPr/>
          <p:nvPr/>
        </p:nvSpPr>
        <p:spPr>
          <a:xfrm>
            <a:off x="4808354" y="3694065"/>
            <a:ext cx="144000" cy="144000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de-DE" sz="1400" dirty="0" err="1">
              <a:solidFill>
                <a:schemeClr val="tx1"/>
              </a:solidFill>
            </a:endParaRPr>
          </a:p>
        </p:txBody>
      </p:sp>
      <p:sp>
        <p:nvSpPr>
          <p:cNvPr id="61" name="Textfeld 60"/>
          <p:cNvSpPr txBox="1"/>
          <p:nvPr/>
        </p:nvSpPr>
        <p:spPr>
          <a:xfrm>
            <a:off x="4104700" y="4828218"/>
            <a:ext cx="1543683" cy="37407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de-DE" dirty="0" smtClean="0"/>
              <a:t>1. Treffen - Organisatorisches</a:t>
            </a:r>
            <a:endParaRPr lang="de-DE" dirty="0"/>
          </a:p>
        </p:txBody>
      </p:sp>
      <p:cxnSp>
        <p:nvCxnSpPr>
          <p:cNvPr id="62" name="Gerader Verbinder 61"/>
          <p:cNvCxnSpPr/>
          <p:nvPr/>
        </p:nvCxnSpPr>
        <p:spPr>
          <a:xfrm flipV="1">
            <a:off x="9569132" y="3826535"/>
            <a:ext cx="0" cy="90000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Ellipse 62"/>
          <p:cNvSpPr/>
          <p:nvPr/>
        </p:nvSpPr>
        <p:spPr>
          <a:xfrm>
            <a:off x="9490758" y="3694065"/>
            <a:ext cx="144000" cy="144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de-DE" dirty="0" err="1">
              <a:solidFill>
                <a:schemeClr val="tx1"/>
              </a:solidFill>
            </a:endParaRPr>
          </a:p>
        </p:txBody>
      </p:sp>
      <p:sp>
        <p:nvSpPr>
          <p:cNvPr id="64" name="Textfeld 63"/>
          <p:cNvSpPr txBox="1"/>
          <p:nvPr/>
        </p:nvSpPr>
        <p:spPr>
          <a:xfrm>
            <a:off x="10151831" y="2552275"/>
            <a:ext cx="1163056" cy="6400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de-DE" dirty="0" smtClean="0"/>
              <a:t>Präsentation**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6408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Am FAPS dienen verschiedene Tools der effizienten Kommunikation </a:t>
            </a:r>
            <a:br>
              <a:rPr lang="de-DE" dirty="0" smtClean="0"/>
            </a:br>
            <a:r>
              <a:rPr lang="de-DE" dirty="0" smtClean="0"/>
              <a:t>zwischen </a:t>
            </a:r>
            <a:r>
              <a:rPr lang="de-DE" dirty="0" smtClean="0"/>
              <a:t>dem/der </a:t>
            </a:r>
            <a:r>
              <a:rPr lang="de-DE" dirty="0" smtClean="0"/>
              <a:t>Betreuenden </a:t>
            </a:r>
            <a:r>
              <a:rPr lang="de-DE" dirty="0"/>
              <a:t>und </a:t>
            </a:r>
            <a:r>
              <a:rPr lang="de-DE" dirty="0" smtClean="0"/>
              <a:t>dem/der </a:t>
            </a:r>
            <a:r>
              <a:rPr lang="de-DE" dirty="0" smtClean="0"/>
              <a:t>Studierenden.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F2BB695-854C-4BE4-BC27-5BADA2C41FF1}"/>
              </a:ext>
            </a:extLst>
          </p:cNvPr>
          <p:cNvSpPr txBox="1">
            <a:spLocks/>
          </p:cNvSpPr>
          <p:nvPr/>
        </p:nvSpPr>
        <p:spPr>
          <a:xfrm>
            <a:off x="839786" y="1268414"/>
            <a:ext cx="10512427" cy="504031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de-DE"/>
            </a:defPPr>
            <a:lvl3pPr lvl="2"/>
          </a:lstStyle>
          <a:p>
            <a:pPr lvl="1"/>
            <a:r>
              <a:rPr lang="de-DE" dirty="0" smtClean="0"/>
              <a:t>Bespreche mit einem/r Betreuer/in, welche der untenstehenden Tools ihr nutzt</a:t>
            </a:r>
          </a:p>
          <a:p>
            <a:pPr lvl="2"/>
            <a:r>
              <a:rPr lang="de-DE" dirty="0" smtClean="0"/>
              <a:t>FAU-Box </a:t>
            </a:r>
            <a:r>
              <a:rPr lang="de-DE" dirty="0" smtClean="0"/>
              <a:t>zum Dateiaustausch (bereitgestellt durch FAU </a:t>
            </a:r>
            <a:r>
              <a:rPr lang="de-DE" dirty="0" smtClean="0">
                <a:sym typeface="Wingdings" panose="05000000000000000000" pitchFamily="2" charset="2"/>
              </a:rPr>
              <a:t> Login </a:t>
            </a:r>
            <a:r>
              <a:rPr lang="de-DE" dirty="0" smtClean="0">
                <a:sym typeface="Wingdings" panose="05000000000000000000" pitchFamily="2" charset="2"/>
              </a:rPr>
              <a:t>IDM-Kennung </a:t>
            </a:r>
            <a:r>
              <a:rPr lang="de-DE" dirty="0" smtClean="0">
                <a:sym typeface="Wingdings" panose="05000000000000000000" pitchFamily="2" charset="2"/>
              </a:rPr>
              <a:t>+ PW)</a:t>
            </a:r>
            <a:endParaRPr lang="de-DE" dirty="0"/>
          </a:p>
          <a:p>
            <a:pPr lvl="2"/>
            <a:r>
              <a:rPr lang="de-DE" dirty="0" err="1" smtClean="0"/>
              <a:t>Gitlab</a:t>
            </a:r>
            <a:r>
              <a:rPr lang="de-DE" dirty="0" smtClean="0"/>
              <a:t> </a:t>
            </a:r>
            <a:endParaRPr lang="de-DE" sz="1100" dirty="0"/>
          </a:p>
          <a:p>
            <a:pPr lvl="3"/>
            <a:r>
              <a:rPr lang="de-DE" u="sng" dirty="0">
                <a:hlinkClick r:id="rId2"/>
              </a:rPr>
              <a:t>https://git.faps.uni-erlangen.de/Dokumentation/LaborErlangen/Biomechatronik/Hardware/Aerosol-Jet-Drucker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/>
              <a:t>(Login: </a:t>
            </a:r>
            <a:r>
              <a:rPr lang="de-DE" dirty="0" smtClean="0"/>
              <a:t>FAPS-Kennung </a:t>
            </a:r>
            <a:r>
              <a:rPr lang="de-DE" dirty="0"/>
              <a:t>+ PW)</a:t>
            </a:r>
            <a:endParaRPr lang="de-DE" sz="1000" dirty="0"/>
          </a:p>
          <a:p>
            <a:pPr lvl="3"/>
            <a:r>
              <a:rPr lang="de-DE" dirty="0"/>
              <a:t>Anlagendokumentation </a:t>
            </a:r>
            <a:endParaRPr lang="de-DE" sz="1000" dirty="0"/>
          </a:p>
          <a:p>
            <a:pPr lvl="3"/>
            <a:r>
              <a:rPr lang="de-DE" dirty="0" smtClean="0"/>
              <a:t>Hilfreiche </a:t>
            </a:r>
            <a:r>
              <a:rPr lang="de-DE" dirty="0"/>
              <a:t>Links und Handbücher</a:t>
            </a:r>
            <a:endParaRPr lang="de-DE" sz="1000" dirty="0"/>
          </a:p>
          <a:p>
            <a:pPr lvl="2"/>
            <a:r>
              <a:rPr lang="de-DE" dirty="0" err="1"/>
              <a:t>Owncloud</a:t>
            </a:r>
            <a:r>
              <a:rPr lang="de-DE" dirty="0"/>
              <a:t> </a:t>
            </a:r>
            <a:endParaRPr lang="de-DE" sz="1100" dirty="0"/>
          </a:p>
          <a:p>
            <a:pPr lvl="3"/>
            <a:r>
              <a:rPr lang="de-DE" u="sng" dirty="0">
                <a:hlinkClick r:id="rId3"/>
              </a:rPr>
              <a:t>https://arkon.faps.uni-erlangen.de</a:t>
            </a:r>
            <a:r>
              <a:rPr lang="de-DE" dirty="0"/>
              <a:t/>
            </a:r>
            <a:br>
              <a:rPr lang="de-DE" dirty="0"/>
            </a:br>
            <a:r>
              <a:rPr lang="de-DE" dirty="0"/>
              <a:t>(Hinzufügen durch Betreuer → Login: FAPS Kennung + PW)</a:t>
            </a:r>
            <a:endParaRPr lang="de-DE" sz="1000" dirty="0"/>
          </a:p>
          <a:p>
            <a:pPr lvl="3"/>
            <a:r>
              <a:rPr lang="de-DE" dirty="0"/>
              <a:t>Hilfreiche Vorgängerarbeiten </a:t>
            </a:r>
            <a:endParaRPr lang="de-DE" sz="1000" dirty="0"/>
          </a:p>
          <a:p>
            <a:pPr lvl="3"/>
            <a:r>
              <a:rPr lang="de-DE" dirty="0"/>
              <a:t>Themenbezogene </a:t>
            </a:r>
            <a:r>
              <a:rPr lang="de-DE" dirty="0" smtClean="0"/>
              <a:t>Paper</a:t>
            </a:r>
          </a:p>
          <a:p>
            <a:pPr lvl="2"/>
            <a:r>
              <a:rPr lang="de-DE" dirty="0" smtClean="0"/>
              <a:t>Überblick </a:t>
            </a:r>
            <a:r>
              <a:rPr lang="de-DE" dirty="0"/>
              <a:t>über bereits abgeschlossene studentische Arbeiten </a:t>
            </a:r>
            <a:r>
              <a:rPr lang="de-DE" dirty="0" smtClean="0"/>
              <a:t>auf </a:t>
            </a:r>
            <a:r>
              <a:rPr lang="de-DE" dirty="0" err="1" smtClean="0"/>
              <a:t>Fapsroot</a:t>
            </a:r>
            <a:r>
              <a:rPr lang="de-DE" dirty="0" smtClean="0"/>
              <a:t> (FAPS-Kennung + PW) </a:t>
            </a:r>
          </a:p>
          <a:p>
            <a:pPr lvl="3"/>
            <a:r>
              <a:rPr lang="de-DE" dirty="0" smtClean="0"/>
              <a:t>im </a:t>
            </a:r>
            <a:r>
              <a:rPr lang="de-DE" dirty="0"/>
              <a:t>Bereich „Public“ </a:t>
            </a:r>
            <a:endParaRPr lang="de-DE" dirty="0" smtClean="0"/>
          </a:p>
          <a:p>
            <a:pPr lvl="3"/>
            <a:r>
              <a:rPr lang="de-DE" dirty="0" smtClean="0"/>
              <a:t>mit </a:t>
            </a:r>
            <a:r>
              <a:rPr lang="de-DE" dirty="0"/>
              <a:t>folgenden Informationen</a:t>
            </a:r>
            <a:r>
              <a:rPr lang="de-DE" dirty="0" smtClean="0"/>
              <a:t>: Titel </a:t>
            </a:r>
            <a:r>
              <a:rPr lang="de-DE" dirty="0"/>
              <a:t>der </a:t>
            </a:r>
            <a:r>
              <a:rPr lang="de-DE" dirty="0" smtClean="0"/>
              <a:t>Arbeit, Jahr </a:t>
            </a:r>
            <a:r>
              <a:rPr lang="de-DE" dirty="0"/>
              <a:t>der </a:t>
            </a:r>
            <a:r>
              <a:rPr lang="de-DE" dirty="0" smtClean="0"/>
              <a:t>Abgabe, Studienfach, Betreuende/r WMA, Art </a:t>
            </a:r>
            <a:r>
              <a:rPr lang="de-DE" dirty="0"/>
              <a:t>der </a:t>
            </a:r>
            <a:r>
              <a:rPr lang="de-DE" dirty="0" smtClean="0"/>
              <a:t>Arbeit, Schlagwörter</a:t>
            </a:r>
            <a:endParaRPr lang="de-DE" sz="1400" dirty="0"/>
          </a:p>
          <a:p>
            <a:pPr lvl="3"/>
            <a:r>
              <a:rPr lang="de-DE" dirty="0" smtClean="0"/>
              <a:t>Besteht </a:t>
            </a:r>
            <a:r>
              <a:rPr lang="de-DE" dirty="0"/>
              <a:t>Interesse an einer dieser Arbeiten, </a:t>
            </a:r>
            <a:r>
              <a:rPr lang="de-DE" dirty="0" smtClean="0"/>
              <a:t>an mich wenden </a:t>
            </a:r>
            <a:endParaRPr lang="de-DE" dirty="0"/>
          </a:p>
          <a:p>
            <a:pPr lvl="3"/>
            <a:endParaRPr lang="de-DE" dirty="0"/>
          </a:p>
          <a:p>
            <a:pPr lvl="2"/>
            <a:endParaRPr lang="de-DE" dirty="0"/>
          </a:p>
        </p:txBody>
      </p:sp>
      <p:pic>
        <p:nvPicPr>
          <p:cNvPr id="4" name="Grafik 3" descr="https://git.faps.uni-erlangen.de/uploads/-/system/appearance/header_logo/1/GitLabFAPS.png"/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34" t="4000"/>
          <a:stretch/>
        </p:blipFill>
        <p:spPr bwMode="auto">
          <a:xfrm>
            <a:off x="10373360" y="2270760"/>
            <a:ext cx="889000" cy="56388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26" name="Picture 2" descr="Bildergebnis fÃ¼r owncloud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5880" y="3121660"/>
            <a:ext cx="1046480" cy="523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 descr="Bildergebnis fÃ¼r fau box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t="33751" r="60134" b="26598"/>
          <a:stretch/>
        </p:blipFill>
        <p:spPr bwMode="auto">
          <a:xfrm>
            <a:off x="9878493" y="1268413"/>
            <a:ext cx="1473719" cy="732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6685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1DA49F-787E-4164-9188-5BB5B7C55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 wichtiger Bestandteil beim Schreiben einer wissenschaftlichen Arbeit ist die systematische Literaturrecherche sowie die Auswertung der vorhandenen Fachliteratur.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E0A098A9-2BB7-43C0-853E-69B7E7720028}"/>
              </a:ext>
            </a:extLst>
          </p:cNvPr>
          <p:cNvSpPr txBox="1"/>
          <p:nvPr/>
        </p:nvSpPr>
        <p:spPr>
          <a:xfrm>
            <a:off x="839787" y="1268413"/>
            <a:ext cx="10512426" cy="408735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2"/>
            <a:r>
              <a:rPr lang="de-DE" dirty="0" smtClean="0"/>
              <a:t>Auswahl an </a:t>
            </a:r>
            <a:r>
              <a:rPr lang="de-DE" b="1" dirty="0" smtClean="0"/>
              <a:t>Datenbanken</a:t>
            </a:r>
            <a:r>
              <a:rPr lang="de-DE" dirty="0" smtClean="0"/>
              <a:t> </a:t>
            </a:r>
            <a:r>
              <a:rPr lang="de-DE" dirty="0" smtClean="0"/>
              <a:t>zur </a:t>
            </a:r>
            <a:r>
              <a:rPr lang="de-DE" b="1" dirty="0" smtClean="0"/>
              <a:t>Recherche</a:t>
            </a:r>
            <a:r>
              <a:rPr lang="de-DE" dirty="0"/>
              <a:t>:</a:t>
            </a:r>
          </a:p>
          <a:p>
            <a:pPr lvl="3"/>
            <a:r>
              <a:rPr lang="de-DE" dirty="0"/>
              <a:t>OPAC (Katalog der Universitätsbibliothek - </a:t>
            </a:r>
            <a:r>
              <a:rPr lang="de-DE" dirty="0">
                <a:hlinkClick r:id="rId2"/>
              </a:rPr>
              <a:t>https://ub.fau.de/recherchieren/kataloge/katalog/</a:t>
            </a:r>
            <a:r>
              <a:rPr lang="de-DE" dirty="0"/>
              <a:t>) </a:t>
            </a:r>
          </a:p>
          <a:p>
            <a:pPr lvl="3"/>
            <a:r>
              <a:rPr lang="de-DE" dirty="0"/>
              <a:t>Google Scholar (</a:t>
            </a:r>
            <a:r>
              <a:rPr lang="de-DE" dirty="0">
                <a:hlinkClick r:id="rId3"/>
              </a:rPr>
              <a:t>https://scholar.google.de/</a:t>
            </a:r>
            <a:r>
              <a:rPr lang="de-DE" dirty="0"/>
              <a:t>)</a:t>
            </a:r>
          </a:p>
          <a:p>
            <a:pPr lvl="3"/>
            <a:r>
              <a:rPr lang="de-DE" dirty="0"/>
              <a:t>Fachdatenbank IEEE Digital Library (</a:t>
            </a:r>
            <a:r>
              <a:rPr lang="de-DE" dirty="0">
                <a:hlinkClick r:id="rId4"/>
              </a:rPr>
              <a:t>https://www.ieee.org/</a:t>
            </a:r>
            <a:r>
              <a:rPr lang="de-DE" dirty="0"/>
              <a:t>)</a:t>
            </a:r>
          </a:p>
          <a:p>
            <a:pPr lvl="3"/>
            <a:r>
              <a:rPr lang="de-DE" dirty="0" err="1"/>
              <a:t>Scopus</a:t>
            </a:r>
            <a:r>
              <a:rPr lang="de-DE" dirty="0"/>
              <a:t> (</a:t>
            </a:r>
            <a:r>
              <a:rPr lang="de-DE" dirty="0">
                <a:hlinkClick r:id="rId5"/>
              </a:rPr>
              <a:t>https://www.scopus.com/home.uri?zone=header&amp;origin</a:t>
            </a:r>
            <a:r>
              <a:rPr lang="de-DE" dirty="0" smtClean="0">
                <a:hlinkClick r:id="rId5"/>
              </a:rPr>
              <a:t>=</a:t>
            </a:r>
            <a:r>
              <a:rPr lang="de-DE" dirty="0" smtClean="0"/>
              <a:t>)</a:t>
            </a:r>
            <a:endParaRPr lang="de-DE" dirty="0"/>
          </a:p>
          <a:p>
            <a:pPr lvl="2"/>
            <a:r>
              <a:rPr lang="de-DE" dirty="0" smtClean="0"/>
              <a:t>Allgemein:</a:t>
            </a:r>
            <a:endParaRPr lang="de-DE" dirty="0"/>
          </a:p>
          <a:p>
            <a:pPr lvl="3"/>
            <a:r>
              <a:rPr lang="de-DE" dirty="0"/>
              <a:t>Verwendung von </a:t>
            </a:r>
            <a:r>
              <a:rPr lang="de-DE" b="1" dirty="0"/>
              <a:t>englischsprachigen Quellen </a:t>
            </a:r>
            <a:r>
              <a:rPr lang="de-DE" dirty="0"/>
              <a:t>(soweit wie möglich)</a:t>
            </a:r>
          </a:p>
          <a:p>
            <a:pPr lvl="3"/>
            <a:r>
              <a:rPr lang="de-DE" b="1" dirty="0"/>
              <a:t>Vermeiden von Websites </a:t>
            </a:r>
            <a:r>
              <a:rPr lang="de-DE" dirty="0"/>
              <a:t>als Quellen</a:t>
            </a:r>
          </a:p>
          <a:p>
            <a:pPr lvl="3"/>
            <a:r>
              <a:rPr lang="de-DE" dirty="0"/>
              <a:t>Bevorzugen von </a:t>
            </a:r>
            <a:r>
              <a:rPr lang="de-DE" b="1" dirty="0"/>
              <a:t>Quellen aus </a:t>
            </a:r>
            <a:r>
              <a:rPr lang="de-DE" b="1" dirty="0" smtClean="0"/>
              <a:t>Zeitschriften und von Konferenzen </a:t>
            </a:r>
            <a:endParaRPr lang="de-DE" b="1" dirty="0"/>
          </a:p>
          <a:p>
            <a:pPr lvl="2"/>
            <a:r>
              <a:rPr lang="de-DE" dirty="0" smtClean="0"/>
              <a:t>Unterstützung </a:t>
            </a:r>
            <a:r>
              <a:rPr lang="de-DE" dirty="0"/>
              <a:t>beim Recherchieren </a:t>
            </a:r>
            <a:r>
              <a:rPr lang="de-DE" dirty="0" smtClean="0"/>
              <a:t>durch untenstehende </a:t>
            </a:r>
            <a:r>
              <a:rPr lang="de-DE" dirty="0"/>
              <a:t>Tabelle:</a:t>
            </a:r>
          </a:p>
          <a:p>
            <a:pPr marL="0" lvl="2" indent="0">
              <a:buNone/>
            </a:pPr>
            <a:endParaRPr lang="de-DE" dirty="0"/>
          </a:p>
          <a:p>
            <a:pPr marL="0" lvl="2" indent="0">
              <a:buNone/>
            </a:pPr>
            <a:endParaRPr lang="de-DE" dirty="0"/>
          </a:p>
          <a:p>
            <a:pPr lvl="2"/>
            <a:endParaRPr lang="de-DE" dirty="0"/>
          </a:p>
        </p:txBody>
      </p:sp>
      <p:graphicFrame>
        <p:nvGraphicFramePr>
          <p:cNvPr id="4" name="Tabelle 4">
            <a:extLst>
              <a:ext uri="{FF2B5EF4-FFF2-40B4-BE49-F238E27FC236}">
                <a16:creationId xmlns:a16="http://schemas.microsoft.com/office/drawing/2014/main" id="{8E54AA69-92FF-4DC3-ADF2-57AC434538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299504"/>
              </p:ext>
            </p:extLst>
          </p:nvPr>
        </p:nvGraphicFramePr>
        <p:xfrm>
          <a:off x="2293257" y="4106227"/>
          <a:ext cx="8128000" cy="1981200"/>
        </p:xfrm>
        <a:graphic>
          <a:graphicData uri="http://schemas.openxmlformats.org/drawingml/2006/table">
            <a:tbl>
              <a:tblPr firstRow="1" bandRow="1">
                <a:tableStyleId>{FF574968-8E7B-4BD5-88D0-8983A55FECBE}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26177251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9558816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2613580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160685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Begriffe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Begriff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Begriff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Begriff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9771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Synonyme </a:t>
                      </a:r>
                      <a:r>
                        <a:rPr lang="de-DE" dirty="0">
                          <a:highlight>
                            <a:srgbClr val="97C139"/>
                          </a:highlight>
                        </a:rPr>
                        <a:t>(abstrakter)</a:t>
                      </a:r>
                    </a:p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Maschine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Servicerobotik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4472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Begriffe </a:t>
                      </a:r>
                    </a:p>
                  </a:txBody>
                  <a:tcPr>
                    <a:solidFill>
                      <a:srgbClr val="CDE2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Roboter</a:t>
                      </a:r>
                    </a:p>
                  </a:txBody>
                  <a:tcPr>
                    <a:solidFill>
                      <a:srgbClr val="CDE2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Pflege/Rehabilitation</a:t>
                      </a:r>
                    </a:p>
                  </a:txBody>
                  <a:tcPr>
                    <a:solidFill>
                      <a:srgbClr val="CDE2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</a:p>
                  </a:txBody>
                  <a:tcPr>
                    <a:solidFill>
                      <a:srgbClr val="CDE2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298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  <a:p>
                      <a:r>
                        <a:rPr lang="de-DE" dirty="0"/>
                        <a:t>Synonyme </a:t>
                      </a:r>
                      <a:r>
                        <a:rPr lang="de-DE" dirty="0">
                          <a:highlight>
                            <a:srgbClr val="97C139"/>
                          </a:highlight>
                        </a:rPr>
                        <a:t>(spezieller)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Humanoider Roboter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807464"/>
                  </a:ext>
                </a:extLst>
              </a:tr>
            </a:tbl>
          </a:graphicData>
        </a:graphic>
      </p:graphicFrame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B0C8F57B-B9F7-4E50-8576-0ED5811E411D}"/>
              </a:ext>
            </a:extLst>
          </p:cNvPr>
          <p:cNvCxnSpPr>
            <a:cxnSpLocks/>
          </p:cNvCxnSpPr>
          <p:nvPr/>
        </p:nvCxnSpPr>
        <p:spPr>
          <a:xfrm>
            <a:off x="2129518" y="5466352"/>
            <a:ext cx="0" cy="355463"/>
          </a:xfrm>
          <a:prstGeom prst="straightConnector1">
            <a:avLst/>
          </a:prstGeom>
          <a:ln w="19050">
            <a:solidFill>
              <a:srgbClr val="97C1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1730F848-198C-4EC9-B1F9-4E4BCFCD311B}"/>
              </a:ext>
            </a:extLst>
          </p:cNvPr>
          <p:cNvCxnSpPr>
            <a:cxnSpLocks/>
          </p:cNvCxnSpPr>
          <p:nvPr/>
        </p:nvCxnSpPr>
        <p:spPr>
          <a:xfrm flipV="1">
            <a:off x="2117725" y="4719456"/>
            <a:ext cx="0" cy="377371"/>
          </a:xfrm>
          <a:prstGeom prst="straightConnector1">
            <a:avLst/>
          </a:prstGeom>
          <a:ln w="19050">
            <a:solidFill>
              <a:srgbClr val="97C1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4792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2">
            <a:extLst>
              <a:ext uri="{FF2B5EF4-FFF2-40B4-BE49-F238E27FC236}">
                <a16:creationId xmlns:a16="http://schemas.microsoft.com/office/drawing/2014/main" id="{FF92BEA3-7937-4299-A0B3-AE4FC0633B08}"/>
              </a:ext>
            </a:extLst>
          </p:cNvPr>
          <p:cNvSpPr txBox="1">
            <a:spLocks/>
          </p:cNvSpPr>
          <p:nvPr/>
        </p:nvSpPr>
        <p:spPr>
          <a:xfrm>
            <a:off x="839788" y="1268413"/>
            <a:ext cx="5111750" cy="50403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FontTx/>
              <a:buNone/>
              <a:defRPr sz="14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216000" indent="-2160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bg2"/>
              </a:buClr>
              <a:buFont typeface="Wingdings" panose="05000000000000000000" pitchFamily="2" charset="2"/>
              <a:buChar char="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440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000" indent="-1440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0000" indent="-1440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000" indent="-1440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00" indent="-1440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" indent="-1440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de-DE" dirty="0" smtClean="0"/>
              <a:t>Mein Job</a:t>
            </a:r>
          </a:p>
          <a:p>
            <a:pPr lvl="2"/>
            <a:r>
              <a:rPr lang="de-DE" dirty="0" smtClean="0"/>
              <a:t>Unterstützung bei </a:t>
            </a:r>
            <a:r>
              <a:rPr lang="de-DE" b="1" dirty="0" smtClean="0"/>
              <a:t>Quellen und </a:t>
            </a:r>
            <a:r>
              <a:rPr lang="de-DE" dirty="0" smtClean="0"/>
              <a:t>Bereitstellung</a:t>
            </a:r>
            <a:r>
              <a:rPr lang="de-DE" b="1" dirty="0" smtClean="0"/>
              <a:t> notwendiger Materialien</a:t>
            </a:r>
            <a:endParaRPr lang="de-DE" dirty="0"/>
          </a:p>
          <a:p>
            <a:pPr lvl="2"/>
            <a:r>
              <a:rPr lang="de-DE" dirty="0" smtClean="0"/>
              <a:t>Jederzeit </a:t>
            </a:r>
            <a:r>
              <a:rPr lang="de-DE" dirty="0"/>
              <a:t>offen für </a:t>
            </a:r>
            <a:r>
              <a:rPr lang="de-DE" b="1" dirty="0"/>
              <a:t>Fragen und </a:t>
            </a:r>
            <a:r>
              <a:rPr lang="de-DE" b="1" dirty="0" smtClean="0"/>
              <a:t>Diskussionen</a:t>
            </a:r>
          </a:p>
          <a:p>
            <a:pPr lvl="2"/>
            <a:r>
              <a:rPr lang="de-DE" dirty="0" smtClean="0"/>
              <a:t>Anleitung zur Erstellung einer qualitativ hochwertigen studentischen Arbeit</a:t>
            </a:r>
          </a:p>
          <a:p>
            <a:pPr lvl="2"/>
            <a:endParaRPr lang="de-DE" dirty="0"/>
          </a:p>
          <a:p>
            <a:pPr lvl="1"/>
            <a:r>
              <a:rPr lang="de-DE" dirty="0" smtClean="0"/>
              <a:t>Dein Job</a:t>
            </a:r>
          </a:p>
          <a:p>
            <a:pPr lvl="2"/>
            <a:r>
              <a:rPr lang="de-DE" b="1" dirty="0" smtClean="0"/>
              <a:t>Zeitmanagement</a:t>
            </a:r>
            <a:r>
              <a:rPr lang="de-DE" dirty="0" smtClean="0"/>
              <a:t> – Zur Sicherstellung der Abgabe einer qualitativ hochwertigen Arbeit zum Abgabetermin </a:t>
            </a:r>
          </a:p>
          <a:p>
            <a:pPr lvl="2"/>
            <a:r>
              <a:rPr lang="de-DE" b="1" dirty="0" smtClean="0"/>
              <a:t>Selbstmanagement</a:t>
            </a:r>
            <a:r>
              <a:rPr lang="de-DE" dirty="0" smtClean="0"/>
              <a:t> - Einhaltung von Terminen, Mitteilung von Informationen/Komplikationen</a:t>
            </a:r>
          </a:p>
          <a:p>
            <a:pPr lvl="2"/>
            <a:r>
              <a:rPr lang="de-DE" b="1" dirty="0" smtClean="0"/>
              <a:t>Selbstständige Einarbeitung </a:t>
            </a:r>
            <a:r>
              <a:rPr lang="de-DE" dirty="0" smtClean="0"/>
              <a:t>in </a:t>
            </a:r>
            <a:r>
              <a:rPr lang="de-DE" b="1" dirty="0" smtClean="0"/>
              <a:t>und Bearbeitung</a:t>
            </a:r>
            <a:r>
              <a:rPr lang="de-DE" dirty="0" smtClean="0"/>
              <a:t> des Themas, inklusive </a:t>
            </a:r>
            <a:r>
              <a:rPr lang="de-DE" b="1" dirty="0" smtClean="0"/>
              <a:t>Aufbau von Fach- und Transferwissen</a:t>
            </a:r>
          </a:p>
          <a:p>
            <a:pPr lvl="2"/>
            <a:r>
              <a:rPr lang="de-DE" b="1" dirty="0" smtClean="0"/>
              <a:t>Gute </a:t>
            </a:r>
            <a:r>
              <a:rPr lang="de-DE" b="1" dirty="0"/>
              <a:t>und </a:t>
            </a:r>
            <a:r>
              <a:rPr lang="de-DE" b="1" dirty="0" smtClean="0"/>
              <a:t>schlüssige Argumentation. </a:t>
            </a:r>
            <a:r>
              <a:rPr lang="de-DE" dirty="0"/>
              <a:t>Auch negative Ergebnisse sind gute </a:t>
            </a:r>
            <a:r>
              <a:rPr lang="de-DE" dirty="0" smtClean="0"/>
              <a:t>Ergebnisse und helfen der Forschung.</a:t>
            </a:r>
            <a:endParaRPr lang="de-DE" b="1" dirty="0" smtClean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A3920001-C8B9-43B5-B061-4C2E533A5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Beim Anfertigen einer studentischen Arbeit </a:t>
            </a:r>
            <a:r>
              <a:rPr lang="de-DE" dirty="0" smtClean="0"/>
              <a:t/>
            </a:r>
            <a:br>
              <a:rPr lang="de-DE" dirty="0" smtClean="0"/>
            </a:br>
            <a:r>
              <a:rPr lang="de-DE" dirty="0" smtClean="0"/>
              <a:t>biete </a:t>
            </a:r>
            <a:r>
              <a:rPr lang="de-DE" dirty="0"/>
              <a:t>ich dir Hilfestellung und Unterstützung.</a:t>
            </a: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6111" y="3359595"/>
            <a:ext cx="3600449" cy="240029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3" name="Textfeld 2"/>
          <p:cNvSpPr txBox="1"/>
          <p:nvPr/>
        </p:nvSpPr>
        <p:spPr>
          <a:xfrm>
            <a:off x="6240462" y="1268413"/>
            <a:ext cx="5111749" cy="237648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1"/>
            <a:r>
              <a:rPr lang="de-DE" dirty="0"/>
              <a:t>Unser Job</a:t>
            </a:r>
          </a:p>
          <a:p>
            <a:r>
              <a:rPr lang="de-DE" b="1" dirty="0" smtClean="0"/>
              <a:t>Gute</a:t>
            </a:r>
            <a:r>
              <a:rPr lang="de-DE" dirty="0" smtClean="0"/>
              <a:t> </a:t>
            </a:r>
            <a:r>
              <a:rPr lang="de-DE" b="1" dirty="0" smtClean="0"/>
              <a:t>Kommunikation</a:t>
            </a:r>
            <a:r>
              <a:rPr lang="de-DE" dirty="0" smtClean="0"/>
              <a:t> zur Sicherstellung einer bestmöglichen Betreuung </a:t>
            </a:r>
            <a:endParaRPr lang="de-DE" dirty="0"/>
          </a:p>
          <a:p>
            <a:pPr marL="0" lvl="2" indent="0">
              <a:buNone/>
            </a:pPr>
            <a:endParaRPr lang="de-DE" dirty="0"/>
          </a:p>
          <a:p>
            <a:pPr algn="l"/>
            <a:endParaRPr lang="de-DE" dirty="0" err="1" smtClean="0"/>
          </a:p>
        </p:txBody>
      </p:sp>
      <p:sp>
        <p:nvSpPr>
          <p:cNvPr id="4" name="Label1"/>
          <p:cNvSpPr txBox="1"/>
          <p:nvPr/>
        </p:nvSpPr>
        <p:spPr>
          <a:xfrm>
            <a:off x="6996111" y="5759894"/>
            <a:ext cx="3600449" cy="170782"/>
          </a:xfrm>
          <a:prstGeom prst="rect">
            <a:avLst/>
          </a:prstGeom>
          <a:noFill/>
        </p:spPr>
        <p:txBody>
          <a:bodyPr vert="horz" wrap="square" lIns="18000" tIns="29210" rIns="18000" bIns="18000" rtlCol="0" anchor="t">
            <a:spAutoFit/>
          </a:bodyPr>
          <a:lstStyle/>
          <a:p>
            <a:pPr algn="r"/>
            <a:r>
              <a:rPr lang="de-DE" sz="800" dirty="0" smtClean="0"/>
              <a:t>Bildquelle: </a:t>
            </a:r>
            <a:r>
              <a:rPr lang="de-DE" sz="800" dirty="0" err="1" smtClean="0"/>
              <a:t>Pixabay</a:t>
            </a:r>
            <a:r>
              <a:rPr lang="de-DE" sz="800" dirty="0" smtClean="0"/>
              <a:t>, 2020</a:t>
            </a:r>
            <a:endParaRPr lang="de-DE" sz="800" dirty="0" smtClean="0"/>
          </a:p>
        </p:txBody>
      </p:sp>
    </p:spTree>
    <p:extLst>
      <p:ext uri="{BB962C8B-B14F-4D97-AF65-F5344CB8AC3E}">
        <p14:creationId xmlns:p14="http://schemas.microsoft.com/office/powerpoint/2010/main" val="4268134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6A19EA45-2A28-419C-83DB-F12929BBB3CA}"/>
              </a:ext>
            </a:extLst>
          </p:cNvPr>
          <p:cNvSpPr txBox="1"/>
          <p:nvPr/>
        </p:nvSpPr>
        <p:spPr>
          <a:xfrm>
            <a:off x="839788" y="1271339"/>
            <a:ext cx="10512425" cy="503738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de-DE"/>
            </a:defPPr>
            <a:lvl3pPr lvl="2"/>
          </a:lstStyle>
          <a:p>
            <a:pPr lvl="2"/>
            <a:r>
              <a:rPr lang="de-DE" dirty="0" smtClean="0">
                <a:sym typeface="Wingdings" panose="05000000000000000000" pitchFamily="2" charset="2"/>
              </a:rPr>
              <a:t>Kurze </a:t>
            </a:r>
            <a:r>
              <a:rPr lang="de-DE" dirty="0" smtClean="0">
                <a:sym typeface="Wingdings" panose="05000000000000000000" pitchFamily="2" charset="2"/>
              </a:rPr>
              <a:t>Erläuterung des Themas in Oberkapiteln oder Oberpunkten (Einleitung + Ausblick). Z. B.:</a:t>
            </a:r>
          </a:p>
          <a:p>
            <a:pPr lvl="3"/>
            <a:r>
              <a:rPr lang="de-DE" u="sng" dirty="0" smtClean="0">
                <a:sym typeface="Wingdings" panose="05000000000000000000" pitchFamily="2" charset="2"/>
              </a:rPr>
              <a:t>Einleitung</a:t>
            </a:r>
            <a:r>
              <a:rPr lang="de-DE" u="sng" dirty="0">
                <a:sym typeface="Wingdings" panose="05000000000000000000" pitchFamily="2" charset="2"/>
              </a:rPr>
              <a:t>:</a:t>
            </a:r>
            <a:r>
              <a:rPr lang="de-DE" dirty="0">
                <a:sym typeface="Wingdings" panose="05000000000000000000" pitchFamily="2" charset="2"/>
              </a:rPr>
              <a:t> Hasen und Igel sind, wenn man ihre Laufgeschwindigkeit betrachtet, auf einem vollkommen unterschiedlichen Niveau.</a:t>
            </a:r>
          </a:p>
          <a:p>
            <a:pPr lvl="3"/>
            <a:r>
              <a:rPr lang="de-DE" u="sng" dirty="0">
                <a:sym typeface="Wingdings" panose="05000000000000000000" pitchFamily="2" charset="2"/>
              </a:rPr>
              <a:t>Ausblick:</a:t>
            </a:r>
            <a:r>
              <a:rPr lang="de-DE" dirty="0">
                <a:sym typeface="Wingdings" panose="05000000000000000000" pitchFamily="2" charset="2"/>
              </a:rPr>
              <a:t> Deshalb wird im folgenden Abschnitt der Wettlauf zwischen Hase und Igel aus dem gleichnamigen Märchen „Der Hase und der Igel“ näher betrachtet. </a:t>
            </a:r>
          </a:p>
          <a:p>
            <a:pPr lvl="2"/>
            <a:r>
              <a:rPr lang="de-DE" b="1" dirty="0" smtClean="0">
                <a:sym typeface="Wingdings" panose="05000000000000000000" pitchFamily="2" charset="2"/>
              </a:rPr>
              <a:t>Vorsicht </a:t>
            </a:r>
            <a:r>
              <a:rPr lang="de-DE" b="1" dirty="0" smtClean="0">
                <a:sym typeface="Wingdings" panose="05000000000000000000" pitchFamily="2" charset="2"/>
              </a:rPr>
              <a:t>Plagiat! </a:t>
            </a:r>
            <a:r>
              <a:rPr lang="de-DE" b="1" dirty="0" smtClean="0">
                <a:sym typeface="Wingdings" panose="05000000000000000000" pitchFamily="2" charset="2"/>
              </a:rPr>
              <a:t>Quellenangabe für </a:t>
            </a:r>
            <a:r>
              <a:rPr lang="de-DE" b="1" dirty="0">
                <a:sym typeface="Wingdings" panose="05000000000000000000" pitchFamily="2" charset="2"/>
              </a:rPr>
              <a:t>jedes Wissen </a:t>
            </a:r>
            <a:r>
              <a:rPr lang="de-DE" b="1" dirty="0" smtClean="0">
                <a:sym typeface="Wingdings" panose="05000000000000000000" pitchFamily="2" charset="2"/>
              </a:rPr>
              <a:t>außerhalb des Allgemeinwissens</a:t>
            </a:r>
            <a:r>
              <a:rPr lang="de-DE" b="1" dirty="0" smtClean="0">
                <a:sym typeface="Wingdings" panose="05000000000000000000" pitchFamily="2" charset="2"/>
              </a:rPr>
              <a:t>!</a:t>
            </a:r>
          </a:p>
          <a:p>
            <a:pPr marL="0" lvl="2" indent="0">
              <a:buNone/>
            </a:pPr>
            <a:r>
              <a:rPr lang="de-DE" b="1" dirty="0" smtClean="0">
                <a:sym typeface="Wingdings" panose="05000000000000000000" pitchFamily="2" charset="2"/>
              </a:rPr>
              <a:t>    </a:t>
            </a:r>
            <a:r>
              <a:rPr lang="de-DE" dirty="0" smtClean="0">
                <a:sym typeface="Wingdings" panose="05000000000000000000" pitchFamily="2" charset="2"/>
              </a:rPr>
              <a:t>(</a:t>
            </a:r>
            <a:r>
              <a:rPr lang="de-DE" dirty="0" smtClean="0">
                <a:sym typeface="Wingdings" panose="05000000000000000000" pitchFamily="2" charset="2"/>
              </a:rPr>
              <a:t>Hilfestellung</a:t>
            </a:r>
            <a:r>
              <a:rPr lang="de-DE" dirty="0">
                <a:sym typeface="Wingdings" panose="05000000000000000000" pitchFamily="2" charset="2"/>
              </a:rPr>
              <a:t>: </a:t>
            </a:r>
            <a:r>
              <a:rPr lang="de-DE" dirty="0">
                <a:sym typeface="Wingdings" panose="05000000000000000000" pitchFamily="2" charset="2"/>
                <a:hlinkClick r:id="rId2"/>
              </a:rPr>
              <a:t>https://www.unker.com/de/plagiat</a:t>
            </a:r>
            <a:r>
              <a:rPr lang="de-DE" dirty="0">
                <a:sym typeface="Wingdings" panose="05000000000000000000" pitchFamily="2" charset="2"/>
              </a:rPr>
              <a:t> (23.04.2020))</a:t>
            </a:r>
          </a:p>
          <a:p>
            <a:pPr lvl="2"/>
            <a:r>
              <a:rPr lang="de-DE" dirty="0" smtClean="0">
                <a:latin typeface="+mj-lt"/>
                <a:sym typeface="Wingdings" panose="05000000000000000000" pitchFamily="2" charset="2"/>
              </a:rPr>
              <a:t>Nennung aller entsprechender Punkte bei näheren Erläuterungen im „</a:t>
            </a:r>
            <a:r>
              <a:rPr lang="de-DE" dirty="0">
                <a:latin typeface="+mj-lt"/>
                <a:sym typeface="Wingdings" panose="05000000000000000000" pitchFamily="2" charset="2"/>
              </a:rPr>
              <a:t>einleitenden </a:t>
            </a:r>
            <a:r>
              <a:rPr lang="de-DE" dirty="0" smtClean="0">
                <a:latin typeface="+mj-lt"/>
                <a:sym typeface="Wingdings" panose="05000000000000000000" pitchFamily="2" charset="2"/>
              </a:rPr>
              <a:t>Satz“</a:t>
            </a:r>
            <a:endParaRPr lang="de-DE" dirty="0">
              <a:latin typeface="+mj-lt"/>
              <a:sym typeface="Wingdings" panose="05000000000000000000" pitchFamily="2" charset="2"/>
            </a:endParaRPr>
          </a:p>
          <a:p>
            <a:pPr lvl="3"/>
            <a:r>
              <a:rPr lang="de-DE" u="sng" dirty="0" smtClean="0">
                <a:latin typeface="+mj-lt"/>
                <a:sym typeface="Wingdings" panose="05000000000000000000" pitchFamily="2" charset="2"/>
              </a:rPr>
              <a:t>Anstatt:</a:t>
            </a:r>
            <a:r>
              <a:rPr lang="de-DE" dirty="0" smtClean="0">
                <a:latin typeface="+mj-lt"/>
                <a:sym typeface="Wingdings" panose="05000000000000000000" pitchFamily="2" charset="2"/>
              </a:rPr>
              <a:t> </a:t>
            </a:r>
            <a:r>
              <a:rPr lang="de-DE" dirty="0">
                <a:sym typeface="Wingdings" panose="05000000000000000000" pitchFamily="2" charset="2"/>
              </a:rPr>
              <a:t>Im Folgenden werden die beiden Protagonisten </a:t>
            </a:r>
            <a:r>
              <a:rPr lang="de-DE" dirty="0" smtClean="0">
                <a:sym typeface="Wingdings" panose="05000000000000000000" pitchFamily="2" charset="2"/>
              </a:rPr>
              <a:t>näher </a:t>
            </a:r>
            <a:r>
              <a:rPr lang="de-DE" dirty="0">
                <a:sym typeface="Wingdings" panose="05000000000000000000" pitchFamily="2" charset="2"/>
              </a:rPr>
              <a:t>betrachtet. </a:t>
            </a:r>
            <a:endParaRPr lang="de-DE" dirty="0">
              <a:sym typeface="Wingdings" panose="05000000000000000000" pitchFamily="2" charset="2"/>
            </a:endParaRPr>
          </a:p>
          <a:p>
            <a:pPr lvl="3"/>
            <a:r>
              <a:rPr lang="de-DE" sz="1200" u="sng" dirty="0" smtClean="0">
                <a:latin typeface="+mj-lt"/>
                <a:sym typeface="Wingdings" panose="05000000000000000000" pitchFamily="2" charset="2"/>
              </a:rPr>
              <a:t>Besser:</a:t>
            </a:r>
            <a:r>
              <a:rPr lang="de-DE" sz="1200" dirty="0" smtClean="0">
                <a:latin typeface="+mj-lt"/>
                <a:sym typeface="Wingdings" panose="05000000000000000000" pitchFamily="2" charset="2"/>
              </a:rPr>
              <a:t> Im </a:t>
            </a:r>
            <a:r>
              <a:rPr lang="de-DE" sz="1200" dirty="0">
                <a:latin typeface="+mj-lt"/>
                <a:sym typeface="Wingdings" panose="05000000000000000000" pitchFamily="2" charset="2"/>
              </a:rPr>
              <a:t>Folgenden werden die </a:t>
            </a:r>
            <a:r>
              <a:rPr lang="de-DE" sz="1200" dirty="0" smtClean="0">
                <a:latin typeface="+mj-lt"/>
                <a:sym typeface="Wingdings" panose="05000000000000000000" pitchFamily="2" charset="2"/>
              </a:rPr>
              <a:t>beiden Protagonisten </a:t>
            </a:r>
            <a:r>
              <a:rPr lang="de-DE" sz="1200" b="1" dirty="0" smtClean="0">
                <a:latin typeface="+mj-lt"/>
                <a:sym typeface="Wingdings" panose="05000000000000000000" pitchFamily="2" charset="2"/>
              </a:rPr>
              <a:t>Hase und </a:t>
            </a:r>
            <a:r>
              <a:rPr lang="de-DE" sz="1200" b="1" dirty="0" smtClean="0">
                <a:latin typeface="+mj-lt"/>
                <a:sym typeface="Wingdings" panose="05000000000000000000" pitchFamily="2" charset="2"/>
              </a:rPr>
              <a:t>Igel </a:t>
            </a:r>
            <a:r>
              <a:rPr lang="de-DE" sz="1200" dirty="0" smtClean="0">
                <a:latin typeface="+mj-lt"/>
                <a:sym typeface="Wingdings" panose="05000000000000000000" pitchFamily="2" charset="2"/>
              </a:rPr>
              <a:t>näher </a:t>
            </a:r>
            <a:r>
              <a:rPr lang="de-DE" sz="1200" dirty="0" smtClean="0">
                <a:latin typeface="+mj-lt"/>
                <a:sym typeface="Wingdings" panose="05000000000000000000" pitchFamily="2" charset="2"/>
              </a:rPr>
              <a:t>betrachtet.</a:t>
            </a:r>
            <a:endParaRPr lang="de-DE" sz="1200" dirty="0">
              <a:latin typeface="+mj-lt"/>
              <a:sym typeface="Wingdings" panose="05000000000000000000" pitchFamily="2" charset="2"/>
            </a:endParaRPr>
          </a:p>
          <a:p>
            <a:pPr lvl="2"/>
            <a:r>
              <a:rPr lang="de-DE" dirty="0">
                <a:sym typeface="Wingdings" panose="05000000000000000000" pitchFamily="2" charset="2"/>
              </a:rPr>
              <a:t>Nutzung </a:t>
            </a:r>
            <a:r>
              <a:rPr lang="de-DE" dirty="0" smtClean="0">
                <a:sym typeface="Wingdings" panose="05000000000000000000" pitchFamily="2" charset="2"/>
              </a:rPr>
              <a:t>geschützter </a:t>
            </a:r>
            <a:r>
              <a:rPr lang="de-DE" dirty="0">
                <a:sym typeface="Wingdings" panose="05000000000000000000" pitchFamily="2" charset="2"/>
              </a:rPr>
              <a:t>Leerzeichen zwischen Zahlenwerten und Einheit (Strg + </a:t>
            </a:r>
            <a:r>
              <a:rPr lang="de-DE" dirty="0" err="1">
                <a:sym typeface="Wingdings" panose="05000000000000000000" pitchFamily="2" charset="2"/>
              </a:rPr>
              <a:t>Shift</a:t>
            </a:r>
            <a:r>
              <a:rPr lang="de-DE" dirty="0">
                <a:sym typeface="Wingdings" panose="05000000000000000000" pitchFamily="2" charset="2"/>
              </a:rPr>
              <a:t> + Leertaste)</a:t>
            </a:r>
          </a:p>
          <a:p>
            <a:pPr lvl="2"/>
            <a:r>
              <a:rPr lang="de-DE" dirty="0">
                <a:sym typeface="Wingdings" panose="05000000000000000000" pitchFamily="2" charset="2"/>
              </a:rPr>
              <a:t>Konsistente Schreibeweise von Ausdrücken (bspw. Aerosol-Jet-Druck vs. </a:t>
            </a:r>
            <a:r>
              <a:rPr lang="de-DE" dirty="0" err="1">
                <a:sym typeface="Wingdings" panose="05000000000000000000" pitchFamily="2" charset="2"/>
              </a:rPr>
              <a:t>Aeorosoljet</a:t>
            </a:r>
            <a:r>
              <a:rPr lang="de-DE" dirty="0">
                <a:sym typeface="Wingdings" panose="05000000000000000000" pitchFamily="2" charset="2"/>
              </a:rPr>
              <a:t>-Druck)</a:t>
            </a:r>
          </a:p>
          <a:p>
            <a:pPr lvl="2"/>
            <a:r>
              <a:rPr lang="de-DE" dirty="0">
                <a:sym typeface="Wingdings" panose="05000000000000000000" pitchFamily="2" charset="2"/>
              </a:rPr>
              <a:t>Vermeidung von Füllwörtern (z. B. nämlich, also, so, eben, etc.)</a:t>
            </a:r>
          </a:p>
          <a:p>
            <a:pPr lvl="2"/>
            <a:r>
              <a:rPr lang="de-DE" dirty="0">
                <a:sym typeface="Wingdings" panose="05000000000000000000" pitchFamily="2" charset="2"/>
              </a:rPr>
              <a:t>Einmalige Einführung von Abkürzungen und konsistente Verwendung</a:t>
            </a:r>
          </a:p>
          <a:p>
            <a:pPr lvl="2"/>
            <a:r>
              <a:rPr lang="de-DE" b="1" dirty="0">
                <a:sym typeface="Wingdings" panose="05000000000000000000" pitchFamily="2" charset="2"/>
              </a:rPr>
              <a:t>Keinen Absatz </a:t>
            </a:r>
            <a:r>
              <a:rPr lang="de-DE" dirty="0">
                <a:sym typeface="Wingdings" panose="05000000000000000000" pitchFamily="2" charset="2"/>
              </a:rPr>
              <a:t>mit nur </a:t>
            </a:r>
            <a:r>
              <a:rPr lang="de-DE" b="1" dirty="0">
                <a:sym typeface="Wingdings" panose="05000000000000000000" pitchFamily="2" charset="2"/>
              </a:rPr>
              <a:t>einem Satz</a:t>
            </a:r>
          </a:p>
          <a:p>
            <a:pPr lvl="2"/>
            <a:r>
              <a:rPr lang="de-DE" b="1" dirty="0">
                <a:sym typeface="Wingdings" panose="05000000000000000000" pitchFamily="2" charset="2"/>
              </a:rPr>
              <a:t>Keine Liste </a:t>
            </a:r>
            <a:r>
              <a:rPr lang="de-DE" dirty="0">
                <a:sym typeface="Wingdings" panose="05000000000000000000" pitchFamily="2" charset="2"/>
              </a:rPr>
              <a:t>mit nur </a:t>
            </a:r>
            <a:r>
              <a:rPr lang="de-DE" b="1" dirty="0">
                <a:sym typeface="Wingdings" panose="05000000000000000000" pitchFamily="2" charset="2"/>
              </a:rPr>
              <a:t>einem Stichpunkt </a:t>
            </a:r>
            <a:r>
              <a:rPr lang="de-DE" dirty="0">
                <a:sym typeface="Wingdings" panose="05000000000000000000" pitchFamily="2" charset="2"/>
              </a:rPr>
              <a:t>(mindestens zwei)</a:t>
            </a:r>
          </a:p>
          <a:p>
            <a:pPr lvl="2"/>
            <a:r>
              <a:rPr lang="de-DE" dirty="0">
                <a:sym typeface="Wingdings" panose="05000000000000000000" pitchFamily="2" charset="2"/>
              </a:rPr>
              <a:t>Nominalstil bei </a:t>
            </a:r>
            <a:r>
              <a:rPr lang="de-DE" dirty="0" smtClean="0">
                <a:sym typeface="Wingdings" panose="05000000000000000000" pitchFamily="2" charset="2"/>
              </a:rPr>
              <a:t>Stichpunkten</a:t>
            </a:r>
            <a:endParaRPr lang="de-DE" dirty="0">
              <a:sym typeface="Wingdings" panose="05000000000000000000" pitchFamily="2" charset="2"/>
            </a:endParaRPr>
          </a:p>
        </p:txBody>
      </p:sp>
      <p:sp>
        <p:nvSpPr>
          <p:cNvPr id="7" name="Ellipse 6"/>
          <p:cNvSpPr/>
          <p:nvPr/>
        </p:nvSpPr>
        <p:spPr>
          <a:xfrm>
            <a:off x="9505295" y="1894984"/>
            <a:ext cx="461914" cy="377072"/>
          </a:xfrm>
          <a:prstGeom prst="ellipse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de-DE" sz="1400" dirty="0" err="1">
              <a:solidFill>
                <a:schemeClr val="tx1"/>
              </a:solidFill>
            </a:endParaRP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993BF531-2DF6-41CE-BC2C-AD6010DC7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Zusätzlich zum </a:t>
            </a:r>
            <a:r>
              <a:rPr lang="de-DE" dirty="0" smtClean="0"/>
              <a:t>allgemeinen studentischen </a:t>
            </a:r>
            <a:r>
              <a:rPr lang="de-DE" dirty="0"/>
              <a:t>Leitfaden </a:t>
            </a:r>
            <a:r>
              <a:rPr lang="de-DE" dirty="0" smtClean="0"/>
              <a:t>des FAPS</a:t>
            </a:r>
            <a:br>
              <a:rPr lang="de-DE" dirty="0" smtClean="0"/>
            </a:br>
            <a:r>
              <a:rPr lang="de-DE" dirty="0" smtClean="0"/>
              <a:t>sind </a:t>
            </a:r>
            <a:r>
              <a:rPr lang="de-DE" dirty="0"/>
              <a:t>beim Anfertigen der Arbeit </a:t>
            </a:r>
            <a:r>
              <a:rPr lang="de-DE" dirty="0" smtClean="0"/>
              <a:t>einige </a:t>
            </a:r>
            <a:r>
              <a:rPr lang="de-DE" dirty="0"/>
              <a:t>Punkte </a:t>
            </a:r>
            <a:r>
              <a:rPr lang="de-DE" dirty="0" smtClean="0"/>
              <a:t>essentiell</a:t>
            </a:r>
            <a:r>
              <a:rPr lang="de-D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537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6A19EA45-2A28-419C-83DB-F12929BBB3CA}"/>
              </a:ext>
            </a:extLst>
          </p:cNvPr>
          <p:cNvSpPr txBox="1"/>
          <p:nvPr/>
        </p:nvSpPr>
        <p:spPr>
          <a:xfrm>
            <a:off x="839787" y="1271339"/>
            <a:ext cx="10512425" cy="237356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de-DE"/>
            </a:defPPr>
            <a:lvl3pPr lvl="2"/>
          </a:lstStyle>
          <a:p>
            <a:pPr marL="0" lvl="2" indent="0">
              <a:buNone/>
            </a:pPr>
            <a:r>
              <a:rPr lang="de-DE" dirty="0">
                <a:sym typeface="Wingdings" panose="05000000000000000000" pitchFamily="2" charset="2"/>
              </a:rPr>
              <a:t>Die </a:t>
            </a:r>
            <a:r>
              <a:rPr lang="de-DE" b="1" dirty="0">
                <a:sym typeface="Wingdings" panose="05000000000000000000" pitchFamily="2" charset="2"/>
              </a:rPr>
              <a:t>Verwendung von Grafiken </a:t>
            </a:r>
            <a:r>
              <a:rPr lang="de-DE" dirty="0">
                <a:sym typeface="Wingdings" panose="05000000000000000000" pitchFamily="2" charset="2"/>
              </a:rPr>
              <a:t>eignet sich beispielsweise zur Beschreibung und Veranschaulichung komplizierter Zusammenhänge im Text und ist deshalb ein wichtiger Bestandteil der Abschlussarbeit. Dabei sind allerdings folgende Punkte zu beachten: </a:t>
            </a:r>
          </a:p>
          <a:p>
            <a:pPr lvl="2"/>
            <a:r>
              <a:rPr lang="de-DE" dirty="0">
                <a:sym typeface="Wingdings" panose="05000000000000000000" pitchFamily="2" charset="2"/>
              </a:rPr>
              <a:t>Nutzung </a:t>
            </a:r>
            <a:r>
              <a:rPr lang="de-DE" dirty="0" smtClean="0">
                <a:sym typeface="Wingdings" panose="05000000000000000000" pitchFamily="2" charset="2"/>
              </a:rPr>
              <a:t>einer </a:t>
            </a:r>
            <a:r>
              <a:rPr lang="de-DE" dirty="0">
                <a:sym typeface="Wingdings" panose="05000000000000000000" pitchFamily="2" charset="2"/>
              </a:rPr>
              <a:t>selbstgestalteten </a:t>
            </a:r>
            <a:r>
              <a:rPr lang="de-DE" dirty="0" smtClean="0">
                <a:sym typeface="Wingdings" panose="05000000000000000000" pitchFamily="2" charset="2"/>
              </a:rPr>
              <a:t>Grafik </a:t>
            </a:r>
            <a:r>
              <a:rPr lang="de-DE" dirty="0">
                <a:sym typeface="Wingdings" panose="05000000000000000000" pitchFamily="2" charset="2"/>
              </a:rPr>
              <a:t>auf der ersten Seite </a:t>
            </a:r>
          </a:p>
          <a:p>
            <a:pPr marL="0" lvl="2" indent="0">
              <a:buNone/>
            </a:pPr>
            <a:r>
              <a:rPr lang="de-DE" dirty="0">
                <a:sym typeface="Wingdings" panose="05000000000000000000" pitchFamily="2" charset="2"/>
              </a:rPr>
              <a:t>	Wenn keine selbstständige Erstellung möglich oder Generierung aus	mehreren Quellen notwendig, Quellhinweis auf der 	ersten beschriebenen 	Seite.</a:t>
            </a:r>
          </a:p>
          <a:p>
            <a:pPr lvl="2"/>
            <a:r>
              <a:rPr lang="de-DE" dirty="0" smtClean="0">
                <a:sym typeface="Wingdings" panose="05000000000000000000" pitchFamily="2" charset="2"/>
              </a:rPr>
              <a:t>Schlechter </a:t>
            </a:r>
            <a:r>
              <a:rPr lang="de-DE" dirty="0" smtClean="0">
                <a:sym typeface="Wingdings" panose="05000000000000000000" pitchFamily="2" charset="2"/>
              </a:rPr>
              <a:t>Eindruck durch uneinheitliche, unscharfe und schlecht lesbare Grafiken. Z. B. Kopien, Scans</a:t>
            </a:r>
            <a:endParaRPr lang="de-DE" b="1" dirty="0">
              <a:sym typeface="Wingdings" panose="05000000000000000000" pitchFamily="2" charset="2"/>
            </a:endParaRPr>
          </a:p>
          <a:p>
            <a:pPr lvl="2"/>
            <a:r>
              <a:rPr lang="de-DE" b="1" dirty="0" smtClean="0">
                <a:sym typeface="Wingdings" panose="05000000000000000000" pitchFamily="2" charset="2"/>
              </a:rPr>
              <a:t>Nachbildung</a:t>
            </a:r>
            <a:r>
              <a:rPr lang="de-DE" dirty="0" smtClean="0">
                <a:sym typeface="Wingdings" panose="05000000000000000000" pitchFamily="2" charset="2"/>
              </a:rPr>
              <a:t> </a:t>
            </a:r>
            <a:r>
              <a:rPr lang="de-DE" b="1" dirty="0">
                <a:sym typeface="Wingdings" panose="05000000000000000000" pitchFamily="2" charset="2"/>
              </a:rPr>
              <a:t>relevante Grafiken, Diagramme, Formeln sowie Tabellen </a:t>
            </a:r>
            <a:r>
              <a:rPr lang="de-DE" dirty="0" smtClean="0">
                <a:sym typeface="Wingdings" panose="05000000000000000000" pitchFamily="2" charset="2"/>
              </a:rPr>
              <a:t>zur Einhaltung </a:t>
            </a:r>
            <a:r>
              <a:rPr lang="de-DE" dirty="0">
                <a:sym typeface="Wingdings" panose="05000000000000000000" pitchFamily="2" charset="2"/>
              </a:rPr>
              <a:t>optische (einheitliche Formatierung) und formale </a:t>
            </a:r>
            <a:r>
              <a:rPr lang="de-DE" dirty="0" smtClean="0">
                <a:sym typeface="Wingdings" panose="05000000000000000000" pitchFamily="2" charset="2"/>
              </a:rPr>
              <a:t>Vorgaben</a:t>
            </a:r>
            <a:endParaRPr lang="de-DE" b="1" dirty="0">
              <a:sym typeface="Wingdings" panose="05000000000000000000" pitchFamily="2" charset="2"/>
            </a:endParaRPr>
          </a:p>
          <a:p>
            <a:pPr lvl="2"/>
            <a:r>
              <a:rPr lang="de-DE" dirty="0">
                <a:sym typeface="Wingdings" panose="05000000000000000000" pitchFamily="2" charset="2"/>
              </a:rPr>
              <a:t>Hilfreiche </a:t>
            </a:r>
            <a:r>
              <a:rPr lang="de-DE" dirty="0" smtClean="0">
                <a:sym typeface="Wingdings" panose="05000000000000000000" pitchFamily="2" charset="2"/>
              </a:rPr>
              <a:t>Tipps: </a:t>
            </a:r>
            <a:r>
              <a:rPr lang="de-DE" dirty="0">
                <a:sym typeface="Wingdings" panose="05000000000000000000" pitchFamily="2" charset="2"/>
                <a:hlinkClick r:id="rId2"/>
              </a:rPr>
              <a:t>https://www.1a-studi.de/wissensdatenbank/akademisches-schreiben/abbildungen-tabellen#abb1</a:t>
            </a:r>
            <a:r>
              <a:rPr lang="de-DE" dirty="0">
                <a:sym typeface="Wingdings" panose="05000000000000000000" pitchFamily="2" charset="2"/>
              </a:rPr>
              <a:t> (25.03.2020)</a:t>
            </a:r>
          </a:p>
          <a:p>
            <a:pPr lvl="2"/>
            <a:endParaRPr lang="de-DE" dirty="0">
              <a:latin typeface="+mj-lt"/>
              <a:sym typeface="Wingdings" panose="05000000000000000000" pitchFamily="2" charset="2"/>
            </a:endParaRP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993BF531-2DF6-41CE-BC2C-AD6010DC7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Einheitliche Grafiken, </a:t>
            </a:r>
            <a:r>
              <a:rPr lang="de-DE" dirty="0" smtClean="0"/>
              <a:t>Diagramme, Formeln </a:t>
            </a:r>
            <a:r>
              <a:rPr lang="de-DE" dirty="0"/>
              <a:t>und Tabellen </a:t>
            </a:r>
            <a:r>
              <a:rPr lang="de-DE" dirty="0" smtClean="0"/>
              <a:t/>
            </a:r>
            <a:br>
              <a:rPr lang="de-DE" dirty="0" smtClean="0"/>
            </a:br>
            <a:r>
              <a:rPr lang="de-DE" dirty="0" smtClean="0"/>
              <a:t>werten </a:t>
            </a:r>
            <a:r>
              <a:rPr lang="de-DE" dirty="0"/>
              <a:t>das Erscheinungsbild </a:t>
            </a:r>
            <a:r>
              <a:rPr lang="de-DE" dirty="0" smtClean="0"/>
              <a:t>deiner </a:t>
            </a:r>
            <a:r>
              <a:rPr lang="de-DE" dirty="0"/>
              <a:t>Abschlussarbeit auf.</a:t>
            </a:r>
          </a:p>
        </p:txBody>
      </p:sp>
      <p:pic>
        <p:nvPicPr>
          <p:cNvPr id="5" name="Grafik 4" descr="Ein Bild, das weiß, Spielzeug, Tisch, sitzend enthält.&#10;&#10;Automatisch generierte Beschreibung">
            <a:extLst>
              <a:ext uri="{FF2B5EF4-FFF2-40B4-BE49-F238E27FC236}">
                <a16:creationId xmlns:a16="http://schemas.microsoft.com/office/drawing/2014/main" id="{C0BF0800-74F0-40BB-8261-303ADB69D5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9919" y="3720973"/>
            <a:ext cx="5852160" cy="2926080"/>
          </a:xfrm>
          <a:prstGeom prst="rect">
            <a:avLst/>
          </a:prstGeom>
        </p:spPr>
      </p:pic>
      <p:sp>
        <p:nvSpPr>
          <p:cNvPr id="6" name="Pfeil: nach rechts 1">
            <a:extLst>
              <a:ext uri="{FF2B5EF4-FFF2-40B4-BE49-F238E27FC236}">
                <a16:creationId xmlns:a16="http://schemas.microsoft.com/office/drawing/2014/main" id="{292CD322-A471-4E00-9AB9-3F2893025EC2}"/>
              </a:ext>
            </a:extLst>
          </p:cNvPr>
          <p:cNvSpPr/>
          <p:nvPr/>
        </p:nvSpPr>
        <p:spPr>
          <a:xfrm>
            <a:off x="1244089" y="2178457"/>
            <a:ext cx="360045" cy="279662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de-DE" sz="1400" dirty="0" err="1">
              <a:solidFill>
                <a:schemeClr val="tx1"/>
              </a:solidFill>
            </a:endParaRPr>
          </a:p>
        </p:txBody>
      </p:sp>
      <p:sp>
        <p:nvSpPr>
          <p:cNvPr id="2" name="Label1"/>
          <p:cNvSpPr txBox="1"/>
          <p:nvPr/>
        </p:nvSpPr>
        <p:spPr>
          <a:xfrm>
            <a:off x="3169919" y="6137943"/>
            <a:ext cx="5852160" cy="170782"/>
          </a:xfrm>
          <a:prstGeom prst="rect">
            <a:avLst/>
          </a:prstGeom>
          <a:noFill/>
        </p:spPr>
        <p:txBody>
          <a:bodyPr vert="horz" wrap="square" lIns="18000" tIns="29210" rIns="18000" bIns="18000" rtlCol="0" anchor="t">
            <a:spAutoFit/>
          </a:bodyPr>
          <a:lstStyle/>
          <a:p>
            <a:pPr algn="r"/>
            <a:r>
              <a:rPr lang="de-DE" sz="800" dirty="0"/>
              <a:t>Bildquelle: </a:t>
            </a:r>
            <a:r>
              <a:rPr lang="de-DE" sz="800" dirty="0" err="1" smtClean="0"/>
              <a:t>Pixabay</a:t>
            </a:r>
            <a:r>
              <a:rPr lang="de-DE" sz="800" dirty="0" smtClean="0"/>
              <a:t>, 2020</a:t>
            </a:r>
            <a:endParaRPr lang="de-DE" sz="800" dirty="0"/>
          </a:p>
        </p:txBody>
      </p:sp>
    </p:spTree>
    <p:extLst>
      <p:ext uri="{BB962C8B-B14F-4D97-AF65-F5344CB8AC3E}">
        <p14:creationId xmlns:p14="http://schemas.microsoft.com/office/powerpoint/2010/main" val="4242926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Durch eine strukturierte Überarbeitung der Arbeit </a:t>
            </a:r>
            <a:br>
              <a:rPr lang="de-DE" dirty="0" smtClean="0"/>
            </a:br>
            <a:r>
              <a:rPr lang="de-DE" dirty="0" smtClean="0"/>
              <a:t>können alle Verbesserungsmöglichkeiten erkannt werden.</a:t>
            </a:r>
            <a:endParaRPr lang="de-DE" dirty="0"/>
          </a:p>
        </p:txBody>
      </p:sp>
      <p:sp>
        <p:nvSpPr>
          <p:cNvPr id="3" name="Textfeld 2"/>
          <p:cNvSpPr txBox="1"/>
          <p:nvPr/>
        </p:nvSpPr>
        <p:spPr>
          <a:xfrm>
            <a:off x="839787" y="1268412"/>
            <a:ext cx="10512425" cy="50403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2"/>
            <a:r>
              <a:rPr lang="de-DE" dirty="0" smtClean="0"/>
              <a:t>Inhalt</a:t>
            </a:r>
            <a:endParaRPr lang="de-DE" dirty="0"/>
          </a:p>
          <a:p>
            <a:pPr lvl="3"/>
            <a:r>
              <a:rPr lang="de-DE" dirty="0" smtClean="0"/>
              <a:t>Überprüfung aller </a:t>
            </a:r>
            <a:r>
              <a:rPr lang="de-DE" dirty="0"/>
              <a:t>Überschriften, </a:t>
            </a:r>
            <a:r>
              <a:rPr lang="de-DE" dirty="0" smtClean="0"/>
              <a:t>auf roten </a:t>
            </a:r>
            <a:r>
              <a:rPr lang="de-DE" dirty="0"/>
              <a:t>Faden </a:t>
            </a:r>
            <a:r>
              <a:rPr lang="de-DE" dirty="0" smtClean="0"/>
              <a:t>(Erkennbar auch </a:t>
            </a:r>
            <a:r>
              <a:rPr lang="de-DE" dirty="0"/>
              <a:t>ohne Lesen des </a:t>
            </a:r>
            <a:r>
              <a:rPr lang="de-DE" dirty="0" smtClean="0"/>
              <a:t>Textes)</a:t>
            </a:r>
            <a:endParaRPr lang="de-DE" dirty="0"/>
          </a:p>
          <a:p>
            <a:pPr lvl="3"/>
            <a:r>
              <a:rPr lang="de-DE" dirty="0" smtClean="0"/>
              <a:t>Überprüfung aller </a:t>
            </a:r>
            <a:r>
              <a:rPr lang="de-DE" dirty="0"/>
              <a:t>Abschnitte, </a:t>
            </a:r>
            <a:r>
              <a:rPr lang="de-DE" dirty="0" smtClean="0"/>
              <a:t>auf Vorhandensein der Überleitungen </a:t>
            </a:r>
            <a:r>
              <a:rPr lang="de-DE" dirty="0"/>
              <a:t>und </a:t>
            </a:r>
            <a:r>
              <a:rPr lang="de-DE" dirty="0" smtClean="0"/>
              <a:t>Einleitungen bei jedem Oberkapitel.</a:t>
            </a:r>
            <a:endParaRPr lang="de-DE" dirty="0"/>
          </a:p>
          <a:p>
            <a:pPr lvl="2"/>
            <a:r>
              <a:rPr lang="de-DE" dirty="0" smtClean="0"/>
              <a:t>Ausdruck </a:t>
            </a:r>
          </a:p>
          <a:p>
            <a:pPr lvl="3"/>
            <a:r>
              <a:rPr lang="de-DE" dirty="0" smtClean="0"/>
              <a:t>Überprüfung auf sachlichen, wissenschaftlichen Ton</a:t>
            </a:r>
            <a:endParaRPr lang="de-DE" dirty="0"/>
          </a:p>
          <a:p>
            <a:pPr lvl="3"/>
            <a:r>
              <a:rPr lang="de-DE" dirty="0" smtClean="0"/>
              <a:t>Überprüfung auf sprachlichen Ausdruck</a:t>
            </a:r>
            <a:endParaRPr lang="de-DE" dirty="0"/>
          </a:p>
          <a:p>
            <a:pPr lvl="2"/>
            <a:r>
              <a:rPr lang="de-DE" dirty="0" smtClean="0"/>
              <a:t>Rechtschreibung</a:t>
            </a:r>
            <a:endParaRPr lang="de-DE" dirty="0"/>
          </a:p>
          <a:p>
            <a:pPr lvl="2"/>
            <a:r>
              <a:rPr lang="de-DE" dirty="0"/>
              <a:t>Optik</a:t>
            </a:r>
          </a:p>
          <a:p>
            <a:pPr lvl="3"/>
            <a:r>
              <a:rPr lang="de-DE" dirty="0" smtClean="0"/>
              <a:t>Überprüfung </a:t>
            </a:r>
            <a:r>
              <a:rPr lang="de-DE" dirty="0"/>
              <a:t>in der „einseitigen Ansicht“, </a:t>
            </a:r>
            <a:r>
              <a:rPr lang="de-DE" dirty="0" smtClean="0"/>
              <a:t>auf </a:t>
            </a:r>
            <a:r>
              <a:rPr lang="de-DE" dirty="0"/>
              <a:t>gleiche Abstände zwischen Abschnitten </a:t>
            </a:r>
            <a:r>
              <a:rPr lang="de-DE" dirty="0" smtClean="0"/>
              <a:t>und ausgewogenem Verhältnis zwischen Text </a:t>
            </a:r>
            <a:r>
              <a:rPr lang="de-DE" dirty="0"/>
              <a:t>und Grafiken </a:t>
            </a:r>
            <a:r>
              <a:rPr lang="de-DE" dirty="0" smtClean="0"/>
              <a:t>(</a:t>
            </a:r>
            <a:r>
              <a:rPr lang="de-DE" dirty="0"/>
              <a:t>z.B. nicht zu dicht 2 Grafiken aufeinander folgen)</a:t>
            </a:r>
          </a:p>
          <a:p>
            <a:pPr lvl="3"/>
            <a:r>
              <a:rPr lang="de-DE" dirty="0" smtClean="0"/>
              <a:t>Überprüfung auf einheitliche </a:t>
            </a:r>
            <a:r>
              <a:rPr lang="de-DE" dirty="0"/>
              <a:t>Gestaltung der Grafiken (verwendete Formen, Schriftarten/-größen, Farben</a:t>
            </a:r>
            <a:r>
              <a:rPr lang="de-DE" dirty="0" smtClean="0"/>
              <a:t>)</a:t>
            </a:r>
          </a:p>
          <a:p>
            <a:pPr lvl="3"/>
            <a:r>
              <a:rPr lang="de-DE" dirty="0" smtClean="0"/>
              <a:t>Überprüfung auf </a:t>
            </a:r>
            <a:r>
              <a:rPr lang="de-DE" smtClean="0"/>
              <a:t>doppelte Leerzeichen</a:t>
            </a:r>
            <a:endParaRPr lang="de-DE" dirty="0"/>
          </a:p>
          <a:p>
            <a:pPr lvl="2"/>
            <a:r>
              <a:rPr lang="de-DE" dirty="0" smtClean="0"/>
              <a:t>Überprüfung, auf sinnvolle Seitenumbrüche</a:t>
            </a:r>
          </a:p>
          <a:p>
            <a:pPr lvl="2"/>
            <a:r>
              <a:rPr lang="de-DE" dirty="0" smtClean="0"/>
              <a:t>Korrekturlesen durch mindestens eine weitere Person</a:t>
            </a:r>
          </a:p>
        </p:txBody>
      </p:sp>
    </p:spTree>
    <p:extLst>
      <p:ext uri="{BB962C8B-B14F-4D97-AF65-F5344CB8AC3E}">
        <p14:creationId xmlns:p14="http://schemas.microsoft.com/office/powerpoint/2010/main" val="3192655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In einer gut strukturierten und übersichtlichen Präsentation,</a:t>
            </a:r>
            <a:br>
              <a:rPr lang="de-DE" dirty="0" smtClean="0"/>
            </a:br>
            <a:r>
              <a:rPr lang="de-DE" dirty="0" smtClean="0"/>
              <a:t>kannst du dein Thema auch weiteren Interessierten vorstellen.</a:t>
            </a:r>
            <a:endParaRPr lang="de-DE" dirty="0"/>
          </a:p>
        </p:txBody>
      </p:sp>
      <p:sp>
        <p:nvSpPr>
          <p:cNvPr id="4" name="Textfeld 3"/>
          <p:cNvSpPr txBox="1"/>
          <p:nvPr/>
        </p:nvSpPr>
        <p:spPr>
          <a:xfrm>
            <a:off x="839788" y="1268413"/>
            <a:ext cx="6911975" cy="504031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1"/>
            <a:r>
              <a:rPr lang="de-DE" dirty="0" smtClean="0"/>
              <a:t>Grundsätzliches</a:t>
            </a:r>
          </a:p>
          <a:p>
            <a:pPr lvl="2"/>
            <a:r>
              <a:rPr lang="de-DE" dirty="0" smtClean="0"/>
              <a:t>Zeitlicher Rahmen: 20 Minuten </a:t>
            </a:r>
            <a:r>
              <a:rPr lang="de-DE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± 10% </a:t>
            </a:r>
            <a:r>
              <a:rPr lang="de-DE" dirty="0" smtClean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Abweichung</a:t>
            </a:r>
          </a:p>
          <a:p>
            <a:pPr lvl="2"/>
            <a:r>
              <a:rPr lang="de-DE" dirty="0" smtClean="0">
                <a:solidFill>
                  <a:srgbClr val="000000"/>
                </a:solidFill>
                <a:latin typeface="Arial" panose="020B0604020202020204" pitchFamily="34" charset="0"/>
              </a:rPr>
              <a:t>Nach Möglichkeit Mitbringen des eigenen Laptops </a:t>
            </a:r>
            <a:r>
              <a:rPr lang="de-DE" dirty="0" smtClean="0"/>
              <a:t>(zur Absicherung Präsentation auf USB Stick mitbringen)</a:t>
            </a:r>
          </a:p>
          <a:p>
            <a:pPr lvl="2"/>
            <a:r>
              <a:rPr lang="de-DE" dirty="0" smtClean="0"/>
              <a:t>Übermittlung der Folien mehrere Tage vor dem Präsentationstermin zur Überprüfung an Betreuer </a:t>
            </a:r>
          </a:p>
          <a:p>
            <a:pPr lvl="2"/>
            <a:r>
              <a:rPr lang="de-DE" dirty="0" smtClean="0"/>
              <a:t>Beachtung der FAPS - Richtlinien</a:t>
            </a:r>
          </a:p>
          <a:p>
            <a:pPr lvl="2"/>
            <a:r>
              <a:rPr lang="de-DE" dirty="0" smtClean="0"/>
              <a:t>Dem Anlass angepasstes Outfit (mindestens Business </a:t>
            </a:r>
            <a:r>
              <a:rPr lang="de-DE" dirty="0" err="1" smtClean="0"/>
              <a:t>Casual</a:t>
            </a:r>
            <a:r>
              <a:rPr lang="de-DE" dirty="0" smtClean="0"/>
              <a:t>)</a:t>
            </a:r>
          </a:p>
          <a:p>
            <a:pPr lvl="1"/>
            <a:endParaRPr lang="de-DE" dirty="0"/>
          </a:p>
          <a:p>
            <a:pPr lvl="1"/>
            <a:r>
              <a:rPr lang="de-DE" dirty="0" smtClean="0"/>
              <a:t>Aufbau</a:t>
            </a:r>
          </a:p>
          <a:p>
            <a:pPr lvl="2"/>
            <a:r>
              <a:rPr lang="de-DE" dirty="0" smtClean="0"/>
              <a:t>Motivationsfolie zwischen Titel- und Gliederungsfolie</a:t>
            </a:r>
          </a:p>
          <a:p>
            <a:pPr lvl="2"/>
            <a:r>
              <a:rPr lang="de-DE" dirty="0" smtClean="0"/>
              <a:t>Präsentation aller relevanten Themen im Inhaltsverzeichnis (ausgenommen Literaturverzeichnis)</a:t>
            </a:r>
          </a:p>
          <a:p>
            <a:pPr lvl="2"/>
            <a:r>
              <a:rPr lang="de-DE" dirty="0"/>
              <a:t>Z</a:t>
            </a:r>
            <a:r>
              <a:rPr lang="de-DE" dirty="0" smtClean="0"/>
              <a:t>usammenfassende Folie zum Abschluss der Präsentation</a:t>
            </a:r>
          </a:p>
          <a:p>
            <a:pPr lvl="2"/>
            <a:r>
              <a:rPr lang="de-DE" dirty="0" smtClean="0"/>
              <a:t>Abschlussfolie</a:t>
            </a:r>
          </a:p>
          <a:p>
            <a:pPr lvl="2"/>
            <a:r>
              <a:rPr lang="de-DE" dirty="0" smtClean="0"/>
              <a:t>Literaturverzeichnis am Ende der Präsentation (ausgeblendet; Zeigen nur bei Rückfragen). Angabe der Quellen auf den jeweiligen Folien im Format </a:t>
            </a:r>
            <a:r>
              <a:rPr lang="de-DE" i="1" dirty="0" smtClean="0"/>
              <a:t>(Autor, Jahr)</a:t>
            </a:r>
            <a:r>
              <a:rPr lang="de-DE" dirty="0" smtClean="0"/>
              <a:t>.</a:t>
            </a: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9572" y="2423160"/>
            <a:ext cx="3261360" cy="3261360"/>
          </a:xfrm>
          <a:prstGeom prst="rect">
            <a:avLst/>
          </a:prstGeom>
        </p:spPr>
      </p:pic>
      <p:sp>
        <p:nvSpPr>
          <p:cNvPr id="3" name="Label1"/>
          <p:cNvSpPr txBox="1"/>
          <p:nvPr/>
        </p:nvSpPr>
        <p:spPr>
          <a:xfrm>
            <a:off x="7989572" y="5684520"/>
            <a:ext cx="3261360" cy="170782"/>
          </a:xfrm>
          <a:prstGeom prst="rect">
            <a:avLst/>
          </a:prstGeom>
          <a:noFill/>
        </p:spPr>
        <p:txBody>
          <a:bodyPr vert="horz" wrap="square" lIns="18000" tIns="29210" rIns="18000" bIns="18000" rtlCol="0" anchor="t">
            <a:spAutoFit/>
          </a:bodyPr>
          <a:lstStyle/>
          <a:p>
            <a:pPr algn="r"/>
            <a:r>
              <a:rPr lang="de-DE" sz="800" dirty="0"/>
              <a:t>Bildquelle: </a:t>
            </a:r>
            <a:r>
              <a:rPr lang="de-DE" sz="800" dirty="0" err="1" smtClean="0"/>
              <a:t>Pixabay</a:t>
            </a:r>
            <a:r>
              <a:rPr lang="de-DE" sz="800" dirty="0" smtClean="0"/>
              <a:t>, 2020</a:t>
            </a:r>
            <a:endParaRPr lang="de-DE" sz="800" dirty="0"/>
          </a:p>
        </p:txBody>
      </p:sp>
    </p:spTree>
    <p:extLst>
      <p:ext uri="{BB962C8B-B14F-4D97-AF65-F5344CB8AC3E}">
        <p14:creationId xmlns:p14="http://schemas.microsoft.com/office/powerpoint/2010/main" val="218804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platzhalter 3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937" b="25937"/>
          <a:stretch/>
        </p:blipFill>
        <p:spPr/>
      </p:pic>
      <p:sp>
        <p:nvSpPr>
          <p:cNvPr id="5" name="Label1"/>
          <p:cNvSpPr txBox="1"/>
          <p:nvPr/>
        </p:nvSpPr>
        <p:spPr>
          <a:xfrm>
            <a:off x="8591551" y="3905918"/>
            <a:ext cx="3600449" cy="170782"/>
          </a:xfrm>
          <a:prstGeom prst="rect">
            <a:avLst/>
          </a:prstGeom>
          <a:noFill/>
        </p:spPr>
        <p:txBody>
          <a:bodyPr vert="horz" wrap="square" lIns="18000" tIns="29210" rIns="18000" bIns="18000" rtlCol="0" anchor="t">
            <a:spAutoFit/>
          </a:bodyPr>
          <a:lstStyle/>
          <a:p>
            <a:pPr algn="r"/>
            <a:r>
              <a:rPr lang="de-DE" sz="800" dirty="0" smtClean="0"/>
              <a:t>Bildquelle: </a:t>
            </a:r>
            <a:r>
              <a:rPr lang="de-DE" sz="800" dirty="0" err="1" smtClean="0"/>
              <a:t>Pixabay</a:t>
            </a:r>
            <a:endParaRPr lang="de-DE" sz="800" dirty="0" smtClean="0"/>
          </a:p>
        </p:txBody>
      </p:sp>
    </p:spTree>
    <p:extLst>
      <p:ext uri="{BB962C8B-B14F-4D97-AF65-F5344CB8AC3E}">
        <p14:creationId xmlns:p14="http://schemas.microsoft.com/office/powerpoint/2010/main" val="1329079506"/>
      </p:ext>
    </p:extLst>
  </p:cSld>
  <p:clrMapOvr>
    <a:masterClrMapping/>
  </p:clrMapOvr>
</p:sld>
</file>

<file path=ppt/theme/theme1.xml><?xml version="1.0" encoding="utf-8"?>
<a:theme xmlns:a="http://schemas.openxmlformats.org/drawingml/2006/main" name="FAPS 16zu9 PPT2016">
  <a:themeElements>
    <a:clrScheme name="FAPS colors 2018">
      <a:dk1>
        <a:srgbClr val="000000"/>
      </a:dk1>
      <a:lt1>
        <a:srgbClr val="FFFFFF"/>
      </a:lt1>
      <a:dk2>
        <a:srgbClr val="5D7723"/>
      </a:dk2>
      <a:lt2>
        <a:srgbClr val="97C139"/>
      </a:lt2>
      <a:accent1>
        <a:srgbClr val="FFCC00"/>
      </a:accent1>
      <a:accent2>
        <a:srgbClr val="FF9933"/>
      </a:accent2>
      <a:accent3>
        <a:srgbClr val="FFD1A3"/>
      </a:accent3>
      <a:accent4>
        <a:srgbClr val="296193"/>
      </a:accent4>
      <a:accent5>
        <a:srgbClr val="B4D0EA"/>
      </a:accent5>
      <a:accent6>
        <a:srgbClr val="CDE29E"/>
      </a:accent6>
      <a:hlink>
        <a:srgbClr val="97C139"/>
      </a:hlink>
      <a:folHlink>
        <a:srgbClr val="5D7723"/>
      </a:folHlink>
    </a:clrScheme>
    <a:fontScheme name="FAPS fonts 2018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rtlCol="0" anchor="t" anchorCtr="0"/>
      <a:lstStyle>
        <a:defPPr algn="l">
          <a:defRPr sz="14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dirty="0" err="1" smtClean="0"/>
        </a:defPPr>
      </a:lstStyle>
    </a:txDef>
  </a:objectDefaults>
  <a:extraClrSchemeLst/>
  <a:custClrLst>
    <a:custClr name="FAPS-Grün">
      <a:srgbClr val="97C139"/>
    </a:custClr>
    <a:custClr name="FAPS-Grün hell">
      <a:srgbClr val="CDE29E"/>
    </a:custClr>
    <a:custClr name="FAPS-Grün dunkel">
      <a:srgbClr val="5D7723"/>
    </a:custClr>
    <a:custClr name="Gelb">
      <a:srgbClr val="FFCC00"/>
    </a:custClr>
    <a:custClr name="Gelb hell">
      <a:srgbClr val="FFEA93"/>
    </a:custClr>
    <a:custClr name="Gelb dunkel">
      <a:srgbClr val="C8A200"/>
    </a:custClr>
    <a:custClr name="Orange">
      <a:srgbClr val="FF9933"/>
    </a:custClr>
    <a:custClr name="Orange hell">
      <a:srgbClr val="FFD1A3"/>
    </a:custClr>
    <a:custClr name="Orange dunkel">
      <a:srgbClr val="C86400"/>
    </a:custClr>
    <a:custClr name="Rot">
      <a:srgbClr val="990033"/>
    </a:custClr>
    <a:custClr name="Rot hell">
      <a:srgbClr val="FFC9DB"/>
    </a:custClr>
    <a:custClr name="Rot dunkel">
      <a:srgbClr val="640021"/>
    </a:custClr>
    <a:custClr name="Blau">
      <a:srgbClr val="296193"/>
    </a:custClr>
    <a:custClr name="Blau hell">
      <a:srgbClr val="B4D0EA"/>
    </a:custClr>
    <a:custClr name="Blau dunkel">
      <a:srgbClr val="1E476C"/>
    </a:custClr>
    <a:custClr name="Grau1">
      <a:srgbClr val="DDDDDD"/>
    </a:custClr>
    <a:custClr name="Grau2">
      <a:srgbClr val="B2B2B2"/>
    </a:custClr>
    <a:custClr name="Grau3">
      <a:srgbClr val="808080"/>
    </a:custClr>
    <a:custClr name="Grau4">
      <a:srgbClr val="5F5F5F"/>
    </a:custClr>
    <a:custClr name="Grau5">
      <a:srgbClr val="333333"/>
    </a:custClr>
    <a:custClr name="Schwarz">
      <a:srgbClr val="000000"/>
    </a:custClr>
  </a:custClrLst>
  <a:extLst>
    <a:ext uri="{05A4C25C-085E-4340-85A3-A5531E510DB2}">
      <thm15:themeFamily xmlns:thm15="http://schemas.microsoft.com/office/thememl/2012/main" name="FAPS 16zu9 PPT2016.potx" id="{F4C8B14D-2D50-4FF6-A1D4-D6312E003F41}" vid="{D60C1FE9-C188-4BFF-AA73-F7220B40DEB7}"/>
    </a:ext>
  </a:extLst>
</a:theme>
</file>

<file path=ppt/theme/theme2.xml><?xml version="1.0" encoding="utf-8"?>
<a:theme xmlns:a="http://schemas.openxmlformats.org/drawingml/2006/main" name="Office">
  <a:themeElements>
    <a:clrScheme name="FAPS colors 2018">
      <a:dk1>
        <a:srgbClr val="000000"/>
      </a:dk1>
      <a:lt1>
        <a:srgbClr val="FFFFFF"/>
      </a:lt1>
      <a:dk2>
        <a:srgbClr val="5D7723"/>
      </a:dk2>
      <a:lt2>
        <a:srgbClr val="97C139"/>
      </a:lt2>
      <a:accent1>
        <a:srgbClr val="FFCC00"/>
      </a:accent1>
      <a:accent2>
        <a:srgbClr val="FF9933"/>
      </a:accent2>
      <a:accent3>
        <a:srgbClr val="FFD1A3"/>
      </a:accent3>
      <a:accent4>
        <a:srgbClr val="296193"/>
      </a:accent4>
      <a:accent5>
        <a:srgbClr val="B4D0EA"/>
      </a:accent5>
      <a:accent6>
        <a:srgbClr val="CDE29E"/>
      </a:accent6>
      <a:hlink>
        <a:srgbClr val="97C139"/>
      </a:hlink>
      <a:folHlink>
        <a:srgbClr val="5D7723"/>
      </a:folHlink>
    </a:clrScheme>
    <a:fontScheme name="FAPS fonts 2018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1005</Words>
  <Application>Microsoft Office PowerPoint</Application>
  <PresentationFormat>Breitbild</PresentationFormat>
  <Paragraphs>126</Paragraphs>
  <Slides>10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5" baseType="lpstr">
      <vt:lpstr>Arial</vt:lpstr>
      <vt:lpstr>Calibri</vt:lpstr>
      <vt:lpstr>Symbol</vt:lpstr>
      <vt:lpstr>Wingdings</vt:lpstr>
      <vt:lpstr>FAPS 16zu9 PPT2016</vt:lpstr>
      <vt:lpstr>Weiterführende Informationen zur Erstellung einer studentischen Arbeit am FAPS in den Forschungsbereichen Robotik und Medizintechnik</vt:lpstr>
      <vt:lpstr>Der Ablauf einer studentischen Arbeit  verfolgt immer das gleiche Muster.</vt:lpstr>
      <vt:lpstr>Am FAPS dienen verschiedene Tools der effizienten Kommunikation  zwischen dem/der Betreuenden und dem/der Studierenden.</vt:lpstr>
      <vt:lpstr>Ein wichtiger Bestandteil beim Schreiben einer wissenschaftlichen Arbeit ist die systematische Literaturrecherche sowie die Auswertung der vorhandenen Fachliteratur.</vt:lpstr>
      <vt:lpstr>Beim Anfertigen einer studentischen Arbeit  biete ich dir Hilfestellung und Unterstützung.</vt:lpstr>
      <vt:lpstr>Zusätzlich zum allgemeinen studentischen Leitfaden des FAPS sind beim Anfertigen der Arbeit einige Punkte essentiell.</vt:lpstr>
      <vt:lpstr>Einheitliche Grafiken, Diagramme, Formeln und Tabellen  werten das Erscheinungsbild deiner Abschlussarbeit auf.</vt:lpstr>
      <vt:lpstr>Durch eine strukturierte Überarbeitung der Arbeit  können alle Verbesserungsmöglichkeiten erkannt werden.</vt:lpstr>
      <vt:lpstr>In einer gut strukturierten und übersichtlichen Präsentation, kannst du dein Thema auch weiteren Interessierten vorstellen.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2020-03-02T20:30:11Z</dcterms:created>
  <dcterms:modified xsi:type="dcterms:W3CDTF">2022-01-04T12:33:21Z</dcterms:modified>
</cp:coreProperties>
</file>